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  <Relationship Id="rId2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各位老师好，我们汇报的是实验三，桌面物体自动分类整理。这一份由一个组统一交付，覆盖两个阶段：阶段一是 mechArm 的仿真，阶段二是 RoboMaster EP 真机。组内三个人分别负责仿真线、识别线和真机执行线。整场我会按五段来走：先给一张验收对账表，再讲系统是怎么搭起来的，然后用两条线的真实运行数据逐条对账，最后主动交代边界和遗留。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整场的索引。左边一列是任务书第六节的六条验收标准，中间是我们目前的结果，右边写明每一条结论出自哪个文件。可以看到，类别数、三个开关全关、异常处理、失败即收尾、单入口启动这几条已经由代码和离线用例给出了结论。只有第二行还是空的，就是六个物体至少正确五个这一条，因为那个数字必须在真机记分轮上跑出来才算数。我们把它标成橙色的待回填，不预先填数，后面第三部分会专门交代这一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把题目说清楚。任务书原文写明不要求任意位置抓取，于是这道题被它自己收窄成了固定的网格号到固定位姿：先扫六个格子，判断有没有、是什么，再按网格号调固定点抓取，分类放进两个料盒，遇到异常就跳过或者安全停。右边这一块是我们明确不做的三件事：不做任意位置抓取，不做动态避障，不判断物体姿态。这不是我们省事，是任务书自己划的边界；把它写在前面，是为了让后面每一个设计取舍都有依据可循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这一页是整场的中心。任务控制核心 sort_core 是一个不依赖 ROS 的状态机，它不认识 ROS，也不认识 EP。整套系统只在两个地方分叉，就是中间这两道缝隙：scan 负责给出桌面状态，pick_place 负责把一次取放做出来。左边是仿真线，scan 取 Gazebo 相机，pick_place 走 PickPlace Action；右边是真机线，scan 取 USB 相机，pick_place 走 EP 的原语。换平台不改核心，这是整个实验里最重要的一个设计决定，也是后面所有结论能复用的前提。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下来解释一个被问过很多次的选择：为什么契约里传的是网格号，而不是坐标。契约只有两个入参，网格编号和期望类别；反馈是六段阶段号，结果是成功或者失败。三条理由。第一，底盘是开环里程计，相机是另一套坐标系，两者没有已知关系，也没有必要建立。第二，契约不随平台变，所以任务核心一行都不用改。第三，失败可以按六段定位到具体是哪一步，而不是笼统地报一句抓取失败。坐标由执行侧自己查表，核心只管是哪一个格子，这是刻意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讲状态机里两个真正拿主意的决定。第一，遇到空网格、网格外或者未识别，我们选择跳过，记一条就继续做下一个物体，不打断其余；而抓取失败这类动作级失败，立即收尾回安全位，连续失败就停线。这样区分的原因是，偶发抖动和真的卡死必须能分开，一次误检不应该让整轮验收中断。第二，每个物体各记一条记录，字段是识别类别、抓取结果、放置结果和异常信息，正好是任务书点名要的那几项。下面这四行是离线夹具跑出来的真实记录，它是用来验证日志格式的，不是现场数据，所以我们标明了来源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识别这一块我们没有另起一套。权重用的是实验一训好的那一份，没有重训；归一化是跟训练时一致的 letterbox 加除以二百五十五；置信阈值两条线共用同一个。两条线真正的差别只在图从哪里来：仿真线直接取 Gazebo 相机的话题，真机线取 USB 相机的帧，再做一次单应矫正，因为我们没有相机支架，相机是垫高以后斜着俯视的。检测框的中心点落在哪个网格就归哪一格，不落格就判成网格外，走上一页说的跳过路径。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从这里开始是两条线的结果。阶段一是 mechArm 仿真，启动方式是一个入口起全套，就是这条 ros2 launch 命令。三张卡片都是九月二十四日实跑出来的数字。第一张是记分轮的分类结果：正确放入对应料盒五个，场上物体共六个，判定通过，而及格线就是五个。第二张是异常处理：异常轮故意把 c3 那一格空着，结论是试跑，因为规则只对完整的验收轮下通过或者失败，所以这一轮必须和记分轮分开跑；空网格这条的正确证据不是某一行写了什么，而是记录文件里根本没有 c3 这一行，结果文件的原因码里也没有它的键。第三张是规划失败零次，六段动作链全程没有一次求不出解。页底那一块是这一页数字的口径，我主动交代：云机容器里没有显卡，Gazebo 走软件渲染，跑到第三四轮画面会停住，帧戳照常往前推，内容却一字不变，于是依赖图像的识别就失效了。为了把故障隔离在渲染这一段、继续验证下游链路，记分轮改用真值投影生成检测框：物块的世界坐标经同一份已经标定好的相机参数投影成像素，后面走完全相同的像素到桌面再到格子的映射。相机标定和映射链路一行没动，动的只是框从哪来。所以这一页能证明的是标定正确、投影与映射正确、执行链可行；不能说的是 HSV 检测算法在整轮任务中稳定有效——渲染健康的那一轮它确实做到了六格全对，但后面几轮拿不到证据，这一点我们不夸大。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阶段二是 RoboMaster EP 真机。这一页想说明的是，EP 的形态本身就在决定我们的设计。它是全向底盘加两轴臂加夹爪的工程形态，作业区是静态的；最关键的约束是臂只有一个水平自由度，前伸大约零点二二米，垂直大约零点一五米，所以桌面上的横向覆盖只能靠底盘转过去，这就是网格号到固定位姿表这个设计的由来。另外两条也同样重要。真机侧没有 ROS 2，只有官方的 Python SDK，所以真机线上不存在 Launch 文件。底盘定位是开环里程计，原点就是上次上电的位置，位姿会随着上电作废，而臂和夹爪的档位不受影响。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这一页是六段动作到 EP 原语的映射。approach 是底盘开到网格位姿再下探，grasp 就是夹爪压紧，lift 抬到高位并判 held，carry 开到料盒位姿，release 下放、松爪、判 placed，retract 退回安全位。右边一列是每一段失败时给出的原因，它遵循一条总规则：只报这一段的代码真能做出来的判断，不替谁宣布一个没人做过的判定。最典型的是夹取段，grasp 只调夹爪闭合，从来没有判过 held，所以它失败只能报驱动硬错；判定没夹起是下一段 lift 的事。唯一和仿真不一致的是退回段，仿真报不可达，真机报驱动硬错，因为 EP 没有规划层，没有任何东西产出过不可达这个结论。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真机上的每一个底盘位姿和臂档位都必须现场实测，没有可推断的默认值，所以我们把标定做成了四份分开署名的记录：相机标定由赵彦淞负责，取物网格、分类料盒和 EP 位姿三份由我负责。未标定的项一律写 null，而不是编一个像样的数填上。启动的第一件事是过这道硬闸门，没过就直接退出，连机器人都不连，而且不在同一个进程里给跳过闸门的选项；要跳过只能去改配置里的标定记录，那是留痕的。下面三条是现场踩出来的坑：越界的臂指令会被 SDK 安静地钳制，只警告、不抛异常，所以记录前要核对读回值，差超过三毫米就拒绝写入；里程计原点跟着上电位姿走，换场地或者重启之后整张表作废；相机被碰到不会有任何提示，现象很像底盘漂移，所以跑之前要用网格纸上已知的角点复核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这一页是真机记分轮的结果，四个字段全部空着，等现场跑完回填。verdict 是这次运行下的结论，规则只给完整的验收轮下通过或者失败。placed_ok 是正确分类放置的个数，任务书的线是六个里对五个。objects_seen 是本轮上桌看到的物体数，要求是六个。exit_status 说明这次是怎么结束的：no_target 表示全部处理完，no_exec 表示只剩下不可执行的目标，safety_stop 表示保护性停止。右下角是视频截帧的占位。答辩只播视频、不做现场复现，所以这一页的结论由结果文件的字段给出，不由口述给出。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任务书要求至少正确处理两类异常，我们把四类归成了两条路径。跳过这一类包括空网格、网格外和未识别，它们不产生失败，也不打断其余物体；失败这一类是抓取失败和不可达，立即回安全态收尾，连续失败就停线。这里有一个细节值得单独说：空网格不产生原因码，它正确的证据不是某一行写了什么，而是那一格根本没有产生任何记录，记录文件里没有它的行，结果文件的 reasons 里也没有它的键。另外，空网格那一轮的结论必然是试跑，因为规则只给完整的验收轮下通过或者失败，所以它必须和记分轮分开跑。最后一条口径是，单次失败只累计并重扫重试，连续三次才安全停止，避免一次误检就中断整轮验收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这一页回答的是评委很可能会问的一个问题：你们是不是人手帮了忙。答案不靠人记，也不靠人声明，而是由代码算出来。有三个开关会让这次运行够不上验收凭据。dry-run 意味着根本没碰真机；assume-judge 意味着没有人确认夹住和放正；confirm-each 意味着人按回车才动作，也就是人工触发动作。任意开一个，这次的证据等级就记成 rehearsal；三个全关才是 acceptance，记分轮要的就是那一行。这些信息写在 real_run.json 里，和结果文件分开存放，验收时一查就知道这一份能不能用。顺便说明一句，HELD 和 PLACED 这两处人工回答不算违规，因为 EP 没有任何物块位姿感知，判夹住没有、放正没有只能靠人；任务书禁的是判类别和触发动作。正常一轮的确认次数正好是物体数的两倍，这个数也记在文件里，可以核。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这一页是三个被推到结论层的问题。第一个，臂抓不到但读数很稳，看起来像抓取不稳定，根因是越界指令被 SDK 安静钳制，那一档永远够不到，所以我们改成记录前核对读回值，差超过三毫米就拒绝写入。第二个，没连上和跑挂了必须能从文件上分开，原来的毛病在于连不上时目录里只有日志、没有结果文件，所以我们照实写一份没跑成的运行，把 outcome 记成 connect_failed。第三个，空网格轮跑出来是试跑而不是通过，根因是判定规则只给完整的验收轮下结论，所以现场必须单独排一轮异常测试，和记分轮分开跑。第三个问题最能说明我们不是跑通就完事，它直接改变了现场怎么排轮次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分工最终落到了文件上。我担任组长，负责仿真线和任务控制核心，包括 sort_core 里的状态机、日志 schema 和 taxonomy，ros2 那条仿真链路，以及 config 里的场景坐标。赵彦淞负责识别线，包括复用实验一的权重、检测缝隙和相机标定。安思瀚负责真机线和 EP 执行，包括六段到原语的映射、标定工具和现场实测值。下面这一块是配置的划分：两条线用同一份 schema，但是两套数；config 是仿真的场景坐标，config_real 是现场实测值，真机那一份多一个 ep_waypoints.json，承担 EP 执行侧的参数。这样各管各的配置，谁都不用抢同一个文件。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最后一页想主动交代边界，而不是等着被问出来。第一条，真机只在同一次上电内有效，换场地或者重启之后底盘位姿全部作废，必须重标。第二条，真机侧没有 ROS 2，因而没有 Launch 文件，改成了单条命令入口，这个口径已经和老师确认过。第三条，HELD 和 PLACED 由操作员回答物理事实，正常一轮是物体数的两倍，次数记录在案。第四条，真机实物最终选型还有风险，尤其是扁平的鼠标类要在大概一到两厘米的高度夹取，够不够得到目前没人验过，现场先试，够不到就垫高。第一条、第三条和第四条里的部分结论要靠现场才能坐实，我们在页面上标了待现场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收束成一句话：一份任务控制核心，两个可替换的缝隙，两条线，证据都在文件里。同一套不依赖 ROS 的任务控制核心，只换 scan 和 pick_place 两个缝隙的实现，就从 mechArm 仿真落到了 RoboMaster EP 真机。右边是任务书第七节的提交材料清单：小组报告，三人各自的个人报告，状态机规格与配置，模型与类别说明，依赖说明，演示视频，还有实验结果记录。最后提一句全篇的读法：每一页左下角的标签就是这一页对应的代码位置，十八页都可以回溯到文件。我们的汇报到这里，请老师提问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实验3_答辩P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实验3_答辩P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band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7" name="cover-head"/>
          <p:cNvGrpSpPr/>
          <p:nvPr/>
        </p:nvGrpSpPr>
        <p:grpSpPr>
          <a:xfrm>
            <a:off x="1047750" y="1530668"/>
            <a:ext cx="4072890" cy="2422207"/>
            <a:chOff x="1047750" y="1530668"/>
            <a:chExt cx="4072890" cy="2422207"/>
          </a:xfrm>
        </p:grpSpPr>
        <p:sp>
          <p:nvSpPr>
            <p:cNvPr id="3" name="TextBox 3"/>
            <p:cNvSpPr txBox="1"/>
            <p:nvPr/>
          </p:nvSpPr>
          <p:spPr>
            <a:xfrm>
              <a:off x="1059942" y="1530668"/>
              <a:ext cx="3043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机器人集成小组项目Ⅰ · 结课答辩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7750" y="2396490"/>
              <a:ext cx="170361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实验3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51560" y="3276600"/>
              <a:ext cx="40690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桌面物体自动分类整理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66800" y="3905250"/>
              <a:ext cx="133350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4" name="cover-lines"/>
          <p:cNvGrpSpPr/>
          <p:nvPr/>
        </p:nvGrpSpPr>
        <p:grpSpPr>
          <a:xfrm>
            <a:off x="1066800" y="4308158"/>
            <a:ext cx="6033922" cy="722757"/>
            <a:chOff x="1066800" y="4308158"/>
            <a:chExt cx="6033922" cy="722757"/>
          </a:xfrm>
        </p:grpSpPr>
        <p:sp>
          <p:nvSpPr>
            <p:cNvPr id="8" name="Rectangle 8"/>
            <p:cNvSpPr/>
            <p:nvPr/>
          </p:nvSpPr>
          <p:spPr>
            <a:xfrm>
              <a:off x="1066800" y="438150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67968" y="4308158"/>
              <a:ext cx="23683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阶段一　mechArm 仿真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99204" y="4356735"/>
              <a:ext cx="28015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Gazebo + ROS 2，单个 Launch 起全套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066800" y="4781550"/>
              <a:ext cx="7620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67968" y="4708208"/>
              <a:ext cx="30242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阶段二　RoboMaster EP 真机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99204" y="4756785"/>
              <a:ext cx="25741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官方 Python SDK，真机侧无 ROS 2</a:t>
              </a:r>
            </a:p>
          </p:txBody>
        </p:sp>
      </p:grpSp>
      <p:grpSp>
        <p:nvGrpSpPr>
          <p:cNvPr id="19" name="cover-meta"/>
          <p:cNvGrpSpPr/>
          <p:nvPr/>
        </p:nvGrpSpPr>
        <p:grpSpPr>
          <a:xfrm>
            <a:off x="1058418" y="5562600"/>
            <a:ext cx="10072878" cy="785051"/>
            <a:chOff x="1058418" y="5562600"/>
            <a:chExt cx="10072878" cy="785051"/>
          </a:xfrm>
        </p:grpSpPr>
        <p:sp>
          <p:nvSpPr>
            <p:cNvPr id="15" name="Line 15"/>
            <p:cNvSpPr/>
            <p:nvPr/>
          </p:nvSpPr>
          <p:spPr>
            <a:xfrm>
              <a:off x="1066800" y="55626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58418" y="5765482"/>
              <a:ext cx="29624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马晨曦</a:t>
              </a: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（组长）</a:t>
              </a:r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24020036047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9942" y="6083618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赵彦淞　·　安思瀚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06380" y="5814060"/>
              <a:ext cx="9249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 年 9 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44729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六条验收标准，六条证据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92015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达标不是我们说的 —— 是 result.json 的 verdict 和 real_run.json 的 evidence_grade 说的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35" name="scorecard"/>
          <p:cNvGrpSpPr/>
          <p:nvPr/>
        </p:nvGrpSpPr>
        <p:grpSpPr>
          <a:xfrm>
            <a:off x="527304" y="1835468"/>
            <a:ext cx="11131296" cy="4022788"/>
            <a:chOff x="527304" y="1835468"/>
            <a:chExt cx="11131296" cy="4022788"/>
          </a:xfrm>
        </p:grpSpPr>
        <p:grpSp>
          <p:nvGrpSpPr>
            <p:cNvPr id="10" name="scorecard-head"/>
            <p:cNvGrpSpPr/>
            <p:nvPr/>
          </p:nvGrpSpPr>
          <p:grpSpPr>
            <a:xfrm>
              <a:off x="533400" y="1835468"/>
              <a:ext cx="11125200" cy="288607"/>
              <a:chOff x="533400" y="1835468"/>
              <a:chExt cx="11125200" cy="288607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659892" y="1835468"/>
                <a:ext cx="13235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任务书 §六 要求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3517392" y="18354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我们的结果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946392" y="18354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证据在哪</a:t>
                </a:r>
              </a:p>
            </p:txBody>
          </p:sp>
          <p:sp>
            <p:nvSpPr>
              <p:cNvPr id="9" name="Line 9"/>
              <p:cNvSpPr/>
              <p:nvPr/>
            </p:nvSpPr>
            <p:spPr>
              <a:xfrm>
                <a:off x="533400" y="211455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33" name="scorecard-rows"/>
            <p:cNvGrpSpPr/>
            <p:nvPr/>
          </p:nvGrpSpPr>
          <p:grpSpPr>
            <a:xfrm>
              <a:off x="533400" y="2295525"/>
              <a:ext cx="11125200" cy="3143250"/>
              <a:chOff x="533400" y="2295525"/>
              <a:chExt cx="11125200" cy="31432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33400" y="2667000"/>
                <a:ext cx="11125200" cy="5524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533400" y="3771900"/>
                <a:ext cx="11125200" cy="5524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533400" y="4876800"/>
                <a:ext cx="11125200" cy="5524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659130" y="2295525"/>
                <a:ext cx="18629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自动分类不少于 2 类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516630" y="2295525"/>
                <a:ext cx="181847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2 类：cup / mouse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946392" y="2311718"/>
                <a:ext cx="231268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exp3/config/taxonomy.py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59130" y="2847975"/>
                <a:ext cx="249897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测试 6 个物体至少正确 5 个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516630" y="2847975"/>
                <a:ext cx="26832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placed_ok = </a:t>
                </a:r>
                <a:r>
                  <a:rPr lang="zh-CN" sz="15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? / 6</a:t>
                </a: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　</a:t>
                </a:r>
                <a:r>
                  <a:rPr lang="zh-CN" sz="120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待真机现场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946392" y="2864168"/>
                <a:ext cx="17583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记分轮 result.json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59130" y="3400425"/>
                <a:ext cx="26403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不人工判类、不人工触发动作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516630" y="3400425"/>
                <a:ext cx="262518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三个开关全关 ⇒ </a:t>
                </a:r>
                <a:r>
                  <a:rPr lang="en-US" sz="15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acceptance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946392" y="3416618"/>
                <a:ext cx="19583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记分轮 real_run.json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59130" y="3952875"/>
                <a:ext cx="20648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至少 2 类异常正确处理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516630" y="3952875"/>
                <a:ext cx="24686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空网格 + 未识别，各留记录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946392" y="3969068"/>
                <a:ext cx="29578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异常轮 run.log · records.jsonl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59130" y="4505325"/>
                <a:ext cx="20345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不碰撞、不超关节限位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516630" y="4505325"/>
                <a:ext cx="285521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失败即回 HOME；连续失败停线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946392" y="4521518"/>
                <a:ext cx="190378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run.log 收尾动作序列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59130" y="5057775"/>
                <a:ext cx="1630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一个入口启动全套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516630" y="5057775"/>
                <a:ext cx="297027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仿真单个 Launch；真机单条命令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946392" y="5073968"/>
                <a:ext cx="361210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ros2/task_control · real/run_real.py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533400" y="542925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rgbClr val="D5DDE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527304" y="5623560"/>
              <a:ext cx="84124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橙色片段为待回填项：判定机制已实现并有离线用例覆盖，数值与截图等仿真实跑与真机现场产生，本页不预先填写。</a:t>
              </a:r>
            </a:p>
          </p:txBody>
        </p:sp>
      </p:grpSp>
      <p:grpSp>
        <p:nvGrpSpPr>
          <p:cNvPr id="38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295549"/>
              <a:ext cx="26220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sort_core/task.py · real/run_real.py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7299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任务定义：把任务书翻译成可实现的问题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84574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任务书原文写明「不要求任意位置抓取」，于是问题被收窄成固定的网格号到固定位姿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22" name="task-chain"/>
          <p:cNvGrpSpPr/>
          <p:nvPr/>
        </p:nvGrpSpPr>
        <p:grpSpPr>
          <a:xfrm>
            <a:off x="527304" y="1866900"/>
            <a:ext cx="10902696" cy="1095756"/>
            <a:chOff x="527304" y="1866900"/>
            <a:chExt cx="10902696" cy="1095756"/>
          </a:xfrm>
        </p:grpSpPr>
        <p:grpSp>
          <p:nvGrpSpPr>
            <p:cNvPr id="9" name="step-scan"/>
            <p:cNvGrpSpPr/>
            <p:nvPr/>
          </p:nvGrpSpPr>
          <p:grpSpPr>
            <a:xfrm>
              <a:off x="527304" y="1866900"/>
              <a:ext cx="2758821" cy="1095756"/>
              <a:chOff x="527304" y="1866900"/>
              <a:chExt cx="2758821" cy="109575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533400" y="1866900"/>
                <a:ext cx="2752725" cy="685800"/>
              </a:xfrm>
              <a:prstGeom prst="chevron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830580" y="2114550"/>
                <a:ext cx="13000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　扫描 6 格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527304" y="2727960"/>
                <a:ext cx="183763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单帧：类别 + 置信度 + 框</a:t>
                </a:r>
              </a:p>
            </p:txBody>
          </p:sp>
        </p:grpSp>
        <p:grpSp>
          <p:nvGrpSpPr>
            <p:cNvPr id="13" name="step-decide"/>
            <p:cNvGrpSpPr/>
            <p:nvPr/>
          </p:nvGrpSpPr>
          <p:grpSpPr>
            <a:xfrm>
              <a:off x="3241929" y="1866900"/>
              <a:ext cx="2758821" cy="1095756"/>
              <a:chOff x="3241929" y="1866900"/>
              <a:chExt cx="2758821" cy="109575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3248025" y="1866900"/>
                <a:ext cx="2752725" cy="685800"/>
              </a:xfrm>
              <a:prstGeom prst="chevron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3545205" y="2114550"/>
                <a:ext cx="125811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　判断类别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241929" y="2727960"/>
                <a:ext cx="232227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未知类 / 低置信 / 框不落格三关</a:t>
                </a:r>
              </a:p>
            </p:txBody>
          </p:sp>
        </p:grpSp>
        <p:grpSp>
          <p:nvGrpSpPr>
            <p:cNvPr id="17" name="step-pick"/>
            <p:cNvGrpSpPr/>
            <p:nvPr/>
          </p:nvGrpSpPr>
          <p:grpSpPr>
            <a:xfrm>
              <a:off x="5956554" y="1866900"/>
              <a:ext cx="2758821" cy="1095756"/>
              <a:chOff x="5956554" y="1866900"/>
              <a:chExt cx="2758821" cy="109575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962650" y="1866900"/>
                <a:ext cx="2752725" cy="685800"/>
              </a:xfrm>
              <a:prstGeom prst="chevron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6259830" y="2114550"/>
                <a:ext cx="146004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　固定点抓取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956554" y="2727960"/>
                <a:ext cx="162763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网格号入参，不传坐标</a:t>
                </a:r>
              </a:p>
            </p:txBody>
          </p:sp>
        </p:grpSp>
        <p:grpSp>
          <p:nvGrpSpPr>
            <p:cNvPr id="21" name="step-place"/>
            <p:cNvGrpSpPr/>
            <p:nvPr/>
          </p:nvGrpSpPr>
          <p:grpSpPr>
            <a:xfrm>
              <a:off x="8671179" y="1866900"/>
              <a:ext cx="2758821" cy="1095756"/>
              <a:chOff x="8671179" y="1866900"/>
              <a:chExt cx="2758821" cy="109575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677275" y="1866900"/>
                <a:ext cx="2752725" cy="685800"/>
              </a:xfrm>
              <a:prstGeom prst="chevron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974455" y="2114550"/>
                <a:ext cx="125811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04　分类放置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671179" y="2727960"/>
                <a:ext cx="166062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cup → P1，mouse → P2</a:t>
                </a:r>
              </a:p>
            </p:txBody>
          </p:sp>
        </p:grpSp>
      </p:grpSp>
      <p:grpSp>
        <p:nvGrpSpPr>
          <p:cNvPr id="40" name="boundary"/>
          <p:cNvGrpSpPr/>
          <p:nvPr/>
        </p:nvGrpSpPr>
        <p:grpSpPr>
          <a:xfrm>
            <a:off x="533400" y="3352800"/>
            <a:ext cx="11125200" cy="1943100"/>
            <a:chOff x="533400" y="3352800"/>
            <a:chExt cx="11125200" cy="1943100"/>
          </a:xfrm>
        </p:grpSpPr>
        <p:sp>
          <p:nvSpPr>
            <p:cNvPr id="23" name="Rectangle 23"/>
            <p:cNvSpPr/>
            <p:nvPr/>
          </p:nvSpPr>
          <p:spPr>
            <a:xfrm>
              <a:off x="533400" y="3352800"/>
              <a:ext cx="11125200" cy="1943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9818" y="3631882"/>
              <a:ext cx="3745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我们不做什么 —— 任务书自己划的边界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871538" y="4129088"/>
              <a:ext cx="200026" cy="200026"/>
              <a:chOff x="871538" y="4129088"/>
              <a:chExt cx="200026" cy="20002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71538" y="41290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49325" y="420687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44450" y="44450"/>
                    </a:lnTo>
                    <a:moveTo>
                      <a:pt x="4445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830580" y="44672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不做任意位置抓取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2104" y="48044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任务书原文即写明不要求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4605338" y="4129088"/>
              <a:ext cx="200026" cy="200026"/>
              <a:chOff x="4605338" y="4129088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4605338" y="41290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683125" y="420687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44450" y="44450"/>
                    </a:lnTo>
                    <a:moveTo>
                      <a:pt x="4445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4564380" y="44672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不做动态避障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65904" y="48044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作业区是静态布置，无移动障碍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8339138" y="4129088"/>
              <a:ext cx="200026" cy="200026"/>
              <a:chOff x="8339138" y="4129088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339138" y="41290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416925" y="420687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44450" y="44450"/>
                    </a:lnTo>
                    <a:moveTo>
                      <a:pt x="4445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8298180" y="44672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不判物体姿态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99704" y="48044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抓取点位姿固定，只按网格号</a:t>
              </a:r>
            </a:p>
          </p:txBody>
        </p:sp>
      </p:grpSp>
      <p:grpSp>
        <p:nvGrpSpPr>
          <p:cNvPr id="43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295549"/>
              <a:ext cx="2196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exp3/contract/PickPlace.action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7299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一个核心，两条线，只在两个缝隙上分叉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85353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任务控制核心不认识 ROS、也不认识 EP，它只认识 scan() 与 pick_place() 两个函数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15" name="arch-core"/>
          <p:cNvGrpSpPr/>
          <p:nvPr/>
        </p:nvGrpSpPr>
        <p:grpSpPr>
          <a:xfrm>
            <a:off x="533400" y="1866900"/>
            <a:ext cx="11125200" cy="1371600"/>
            <a:chOff x="533400" y="1866900"/>
            <a:chExt cx="11125200" cy="1371600"/>
          </a:xfrm>
        </p:grpSpPr>
        <p:sp>
          <p:nvSpPr>
            <p:cNvPr id="6" name="Rectangle 6"/>
            <p:cNvSpPr/>
            <p:nvPr/>
          </p:nvSpPr>
          <p:spPr>
            <a:xfrm>
              <a:off x="533400" y="1866900"/>
              <a:ext cx="11125200" cy="723900"/>
            </a:xfrm>
            <a:prstGeom prst="roundRect">
              <a:avLst>
                <a:gd name="adj" fmla="val 1052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8294" y="2094548"/>
              <a:ext cx="58067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sort_core/　任务控制核心：ROS-free 状态机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86088" y="21755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平台相关代码全部在这个框之外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3257550" y="2590800"/>
              <a:ext cx="1" cy="6477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>
              <a:off x="8934450" y="2590800"/>
              <a:ext cx="1" cy="6477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533400" y="29146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lgDash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2104" y="27089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缝隙　可替换面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286250" y="2705100"/>
              <a:ext cx="3619500" cy="419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831618" y="2828925"/>
              <a:ext cx="25287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scan()　·　pick_place()</a:t>
              </a:r>
            </a:p>
          </p:txBody>
        </p:sp>
      </p:grpSp>
      <p:grpSp>
        <p:nvGrpSpPr>
          <p:cNvPr id="22" name="arch-lines"/>
          <p:cNvGrpSpPr/>
          <p:nvPr/>
        </p:nvGrpSpPr>
        <p:grpSpPr>
          <a:xfrm>
            <a:off x="524256" y="3467100"/>
            <a:ext cx="11134344" cy="790956"/>
            <a:chOff x="524256" y="3467100"/>
            <a:chExt cx="11134344" cy="790956"/>
          </a:xfrm>
        </p:grpSpPr>
        <p:sp>
          <p:nvSpPr>
            <p:cNvPr id="16" name="Line 16"/>
            <p:cNvSpPr/>
            <p:nvPr/>
          </p:nvSpPr>
          <p:spPr>
            <a:xfrm>
              <a:off x="533400" y="3467100"/>
              <a:ext cx="5448300" cy="9525"/>
            </a:xfrm>
            <a:custGeom>
              <a:avLst/>
              <a:gdLst/>
              <a:ahLst/>
              <a:cxnLst/>
              <a:rect l="l" t="t" r="r" b="b"/>
              <a:pathLst>
                <a:path w="5448300" h="9525">
                  <a:moveTo>
                    <a:pt x="0" y="0"/>
                  </a:moveTo>
                  <a:lnTo>
                    <a:pt x="54483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4256" y="3653790"/>
              <a:ext cx="42371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仿真线　mechArm + Gazebo + ROS 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7304" y="4023360"/>
              <a:ext cx="46450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scan() 取 Gazebo 相机　·　pick_place() 走 PickPlace Action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210300" y="3467100"/>
              <a:ext cx="5448300" cy="9525"/>
            </a:xfrm>
            <a:custGeom>
              <a:avLst/>
              <a:gdLst/>
              <a:ahLst/>
              <a:cxnLst/>
              <a:rect l="l" t="t" r="r" b="b"/>
              <a:pathLst>
                <a:path w="5448300" h="9525">
                  <a:moveTo>
                    <a:pt x="0" y="0"/>
                  </a:moveTo>
                  <a:lnTo>
                    <a:pt x="54483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01156" y="3653790"/>
              <a:ext cx="28281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真机线　RoboMaster EP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04204" y="4023360"/>
              <a:ext cx="43389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scan() 取 USB 相机　·　pick_place() 走 EP SDK 六段原语</a:t>
              </a:r>
            </a:p>
          </p:txBody>
        </p:sp>
      </p:grpSp>
      <p:grpSp>
        <p:nvGrpSpPr>
          <p:cNvPr id="24" name="arch-takeaway"/>
          <p:cNvGrpSpPr/>
          <p:nvPr/>
        </p:nvGrpSpPr>
        <p:grpSpPr>
          <a:xfrm>
            <a:off x="523494" y="4990148"/>
            <a:ext cx="6526098" cy="381381"/>
            <a:chOff x="523494" y="4990148"/>
            <a:chExt cx="6526098" cy="381381"/>
          </a:xfrm>
        </p:grpSpPr>
        <p:sp>
          <p:nvSpPr>
            <p:cNvPr id="23" name="TextBox 23"/>
            <p:cNvSpPr txBox="1"/>
            <p:nvPr/>
          </p:nvSpPr>
          <p:spPr>
            <a:xfrm>
              <a:off x="523494" y="4990148"/>
              <a:ext cx="65260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换平台不改核心 —— 仿真与真机</a:t>
              </a:r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只在两个缝隙后面不同</a:t>
              </a:r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7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25" name="TextBox 25"/>
            <p:cNvSpPr txBox="1"/>
            <p:nvPr/>
          </p:nvSpPr>
          <p:spPr>
            <a:xfrm>
              <a:off x="528447" y="6295549"/>
              <a:ext cx="1896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sort_core/ · ros2/ · real/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为什么传网格号，而不是坐标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75689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底盘是开环里程计、相机是另一套坐标系，两者没有已知关系，也不需要建立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20" name="contract"/>
          <p:cNvGrpSpPr/>
          <p:nvPr/>
        </p:nvGrpSpPr>
        <p:grpSpPr>
          <a:xfrm>
            <a:off x="533400" y="1943100"/>
            <a:ext cx="5410200" cy="2895600"/>
            <a:chOff x="533400" y="1943100"/>
            <a:chExt cx="5410200" cy="2895600"/>
          </a:xfrm>
        </p:grpSpPr>
        <p:sp>
          <p:nvSpPr>
            <p:cNvPr id="6" name="Rectangle 6"/>
            <p:cNvSpPr/>
            <p:nvPr/>
          </p:nvSpPr>
          <p:spPr>
            <a:xfrm>
              <a:off x="533400" y="1943100"/>
              <a:ext cx="5410200" cy="2895600"/>
            </a:xfrm>
            <a:prstGeom prst="roundRect">
              <a:avLst>
                <a:gd name="adj" fmla="val 263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5142" y="2254568"/>
              <a:ext cx="16250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PickPlace.action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25717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  <a:prstDash val="dash"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5142" y="2730818"/>
              <a:ext cx="20582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入参　cell_id : uint8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03904" y="2747010"/>
              <a:ext cx="10622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网格编号 1..6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142" y="3092768"/>
              <a:ext cx="26579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入参　expected_cls : string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03904" y="3108960"/>
              <a:ext cx="941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cup / mouse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62000" y="34099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  <a:prstDash val="dash"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5142" y="3569018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反馈　stage : uint8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03904" y="35852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六段之一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5142" y="3930968"/>
              <a:ext cx="21582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结果　verdict : string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03904" y="3947160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ok / fail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62000" y="42672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  <a:prstDash val="dash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5904" y="4423410"/>
              <a:ext cx="22390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契约里没有坐标 —— 这是刻意的</a:t>
              </a:r>
            </a:p>
          </p:txBody>
        </p:sp>
      </p:grpSp>
      <p:grpSp>
        <p:nvGrpSpPr>
          <p:cNvPr id="33" name="reasons"/>
          <p:cNvGrpSpPr/>
          <p:nvPr/>
        </p:nvGrpSpPr>
        <p:grpSpPr>
          <a:xfrm>
            <a:off x="6286500" y="2047875"/>
            <a:ext cx="4653077" cy="2781681"/>
            <a:chOff x="6286500" y="2047875"/>
            <a:chExt cx="4653077" cy="2781681"/>
          </a:xfrm>
        </p:grpSpPr>
        <p:sp>
          <p:nvSpPr>
            <p:cNvPr id="21" name="Ellipse 21"/>
            <p:cNvSpPr/>
            <p:nvPr/>
          </p:nvSpPr>
          <p:spPr>
            <a:xfrm>
              <a:off x="6286500" y="21145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79565" y="21878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74180" y="20478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两套坐标系不需要建立关系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75704" y="2385060"/>
              <a:ext cx="41638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底盘开环里程计、相机另一套坐标 —— 任务书也没要求对齐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286500" y="32194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79565" y="32927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74180" y="31527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契约不随平台变，任务核心一行不改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75704" y="3489960"/>
              <a:ext cx="37842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两条线实现同一个 action，换平台只换它后面的实现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286500" y="43243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79565" y="43976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74180" y="42576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失败可按六段定位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75704" y="4594860"/>
              <a:ext cx="40184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approach / grasp / lift / carry / release / retract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143500"/>
            <a:ext cx="11125200" cy="571500"/>
            <a:chOff x="533400" y="5143500"/>
            <a:chExt cx="11125200" cy="571500"/>
          </a:xfrm>
        </p:grpSpPr>
        <p:sp>
          <p:nvSpPr>
            <p:cNvPr id="34" name="Rectangle 34"/>
            <p:cNvSpPr/>
            <p:nvPr/>
          </p:nvSpPr>
          <p:spPr>
            <a:xfrm>
              <a:off x="533400" y="5143500"/>
              <a:ext cx="11125200" cy="571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8294" y="5294948"/>
              <a:ext cx="63200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坐标由执行侧自己查表，核心只管</a:t>
              </a:r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「是哪一个格子」</a:t>
              </a:r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9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295549"/>
              <a:ext cx="2196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exp3/contract/PickPlace.action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40690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状态机的两个关键决定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9568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跳过不打断其余物体，失败立即回安全态；每个物体各记一条，字段正好是任务书点名要的那几项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15" name="decision-skip"/>
          <p:cNvGrpSpPr/>
          <p:nvPr/>
        </p:nvGrpSpPr>
        <p:grpSpPr>
          <a:xfrm>
            <a:off x="533400" y="1809750"/>
            <a:ext cx="5448300" cy="2286000"/>
            <a:chOff x="533400" y="1809750"/>
            <a:chExt cx="5448300" cy="2286000"/>
          </a:xfrm>
        </p:grpSpPr>
        <p:sp>
          <p:nvSpPr>
            <p:cNvPr id="6" name="Rectangle 6"/>
            <p:cNvSpPr/>
            <p:nvPr/>
          </p:nvSpPr>
          <p:spPr>
            <a:xfrm>
              <a:off x="533400" y="1809750"/>
              <a:ext cx="5448300" cy="228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3618" y="20126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决定一　跳过，还是失败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23812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2552700"/>
              <a:ext cx="38100" cy="590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6780" y="26765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跳过　继续下一个物体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8685" y="2964656"/>
              <a:ext cx="39391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空网格（不记录） · out_of_grid · unrecognized_object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3314700"/>
              <a:ext cx="38100" cy="590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34385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失败　立即回安全态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8685" y="3726656"/>
              <a:ext cx="45669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safe_reset（开爪 → 抬到高 → 回 HOME）；连续失败 safety_stop</a:t>
              </a:r>
            </a:p>
          </p:txBody>
        </p:sp>
      </p:grpSp>
      <p:grpSp>
        <p:nvGrpSpPr>
          <p:cNvPr id="27" name="decision-record"/>
          <p:cNvGrpSpPr/>
          <p:nvPr/>
        </p:nvGrpSpPr>
        <p:grpSpPr>
          <a:xfrm>
            <a:off x="6210300" y="1809750"/>
            <a:ext cx="5448300" cy="2286000"/>
            <a:chOff x="6210300" y="1809750"/>
            <a:chExt cx="5448300" cy="2286000"/>
          </a:xfrm>
        </p:grpSpPr>
        <p:sp>
          <p:nvSpPr>
            <p:cNvPr id="16" name="Rectangle 16"/>
            <p:cNvSpPr/>
            <p:nvPr/>
          </p:nvSpPr>
          <p:spPr>
            <a:xfrm>
              <a:off x="6210300" y="1809750"/>
              <a:ext cx="5448300" cy="228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30518" y="20126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决定二　每个物体各记一条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438900" y="23812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32423" y="264366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cls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66404" y="26517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识别类别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32423" y="29675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grasp_ok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66404" y="2975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抓取结果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32423" y="329136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place_ok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66404" y="3299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放置结果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32423" y="3615214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reason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66404" y="36233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异常信息（成功为 null）</a:t>
              </a:r>
            </a:p>
          </p:txBody>
        </p:sp>
      </p:grpSp>
      <p:grpSp>
        <p:nvGrpSpPr>
          <p:cNvPr id="34" name="records-block"/>
          <p:cNvGrpSpPr/>
          <p:nvPr/>
        </p:nvGrpSpPr>
        <p:grpSpPr>
          <a:xfrm>
            <a:off x="533400" y="4324350"/>
            <a:ext cx="11125200" cy="1695450"/>
            <a:chOff x="533400" y="4324350"/>
            <a:chExt cx="11125200" cy="1695450"/>
          </a:xfrm>
        </p:grpSpPr>
        <p:sp>
          <p:nvSpPr>
            <p:cNvPr id="28" name="Rectangle 28"/>
            <p:cNvSpPr/>
            <p:nvPr/>
          </p:nvSpPr>
          <p:spPr>
            <a:xfrm>
              <a:off x="533400" y="4324350"/>
              <a:ext cx="11125200" cy="1695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2104" y="4499610"/>
              <a:ext cx="43710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records.jsonl　每物体一行（离线夹具产出，非现场数据）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866" y="4820602"/>
              <a:ext cx="9106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{"decision": "exec", "cell_id": "c1", "cls": "cup", "conf": 0.93, "grasp_ok": true, "place_ok": true, "reason": null,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2866" y="5106352"/>
              <a:ext cx="52299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"detail": "mock: removed cup from c1", "ts": "2026-09-12T16:19:10"}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2866" y="5468302"/>
              <a:ext cx="92620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{"decision": "exec", "cell_id": "c4", "cls": "mouse", "conf": 0.93, "grasp_ok": true, "place_ok": true, "reason": null,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2866" y="5754052"/>
              <a:ext cx="53850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"detail": "mock: removed mouse from c4", "ts": "2026-09-12T16:19:10"}</a:t>
              </a:r>
            </a:p>
          </p:txBody>
        </p:sp>
      </p:grpSp>
      <p:grpSp>
        <p:nvGrpSpPr>
          <p:cNvPr id="37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295549"/>
              <a:ext cx="2984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sort_core/task.py · sort_core/taxonomy.py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77038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识别链路：复用实验一的模型，不另起一套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同一份权重、同一套预处理、同一个置信阈值，两条线只是外壳不同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15" name="shared"/>
          <p:cNvGrpSpPr/>
          <p:nvPr/>
        </p:nvGrpSpPr>
        <p:grpSpPr>
          <a:xfrm>
            <a:off x="533400" y="1809750"/>
            <a:ext cx="5448300" cy="2209800"/>
            <a:chOff x="533400" y="1809750"/>
            <a:chExt cx="5448300" cy="2209800"/>
          </a:xfrm>
        </p:grpSpPr>
        <p:sp>
          <p:nvSpPr>
            <p:cNvPr id="6" name="Rectangle 6"/>
            <p:cNvSpPr/>
            <p:nvPr/>
          </p:nvSpPr>
          <p:spPr>
            <a:xfrm>
              <a:off x="533400" y="1809750"/>
              <a:ext cx="5448300" cy="2209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3618" y="20126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共享　两条线完全一样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23812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5142" y="2654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89404" y="26708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实验一训好的那一份，不重训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142" y="30546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归一化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89404" y="3070860"/>
              <a:ext cx="24434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letterbox + /255，与训练时一致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142" y="3454718"/>
              <a:ext cx="8438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conf_min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89404" y="34709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同一个阈值，不按线调</a:t>
              </a:r>
            </a:p>
          </p:txBody>
        </p:sp>
      </p:grpSp>
      <p:grpSp>
        <p:nvGrpSpPr>
          <p:cNvPr id="24" name="diverge"/>
          <p:cNvGrpSpPr/>
          <p:nvPr/>
        </p:nvGrpSpPr>
        <p:grpSpPr>
          <a:xfrm>
            <a:off x="6210300" y="1809750"/>
            <a:ext cx="5448300" cy="2209800"/>
            <a:chOff x="6210300" y="1809750"/>
            <a:chExt cx="5448300" cy="2209800"/>
          </a:xfrm>
        </p:grpSpPr>
        <p:sp>
          <p:nvSpPr>
            <p:cNvPr id="16" name="Rectangle 16"/>
            <p:cNvSpPr/>
            <p:nvPr/>
          </p:nvSpPr>
          <p:spPr>
            <a:xfrm>
              <a:off x="6210300" y="1809750"/>
              <a:ext cx="5448300" cy="2209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30518" y="20126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差异　只有外壳分叉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438900" y="23812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32042" y="2654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仿真线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13904" y="2670810"/>
              <a:ext cx="2214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Gazebo 相机出图，直接取话题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32042" y="30546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真机线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13904" y="3070860"/>
              <a:ext cx="18231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USB 相机取帧 → 单应矫正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32804" y="34709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模型、预处理、阈值都不动</a:t>
              </a:r>
            </a:p>
          </p:txBody>
        </p:sp>
      </p:grpSp>
      <p:grpSp>
        <p:nvGrpSpPr>
          <p:cNvPr id="38" name="mapping"/>
          <p:cNvGrpSpPr/>
          <p:nvPr/>
        </p:nvGrpSpPr>
        <p:grpSpPr>
          <a:xfrm>
            <a:off x="533400" y="4248150"/>
            <a:ext cx="11125200" cy="1066800"/>
            <a:chOff x="533400" y="4248150"/>
            <a:chExt cx="11125200" cy="1066800"/>
          </a:xfrm>
        </p:grpSpPr>
        <p:sp>
          <p:nvSpPr>
            <p:cNvPr id="25" name="Rectangle 25"/>
            <p:cNvSpPr/>
            <p:nvPr/>
          </p:nvSpPr>
          <p:spPr>
            <a:xfrm>
              <a:off x="533400" y="4248150"/>
              <a:ext cx="111252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82650" y="4540250"/>
              <a:ext cx="177801" cy="177801"/>
              <a:chOff x="882650" y="4540250"/>
              <a:chExt cx="177801" cy="17780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82650" y="4540250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60438" y="4540250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38226" y="4540250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82650" y="461803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60438" y="461803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38226" y="461803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82650" y="4695826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60438" y="4695826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38226" y="4695826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248918" y="4527232"/>
              <a:ext cx="161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检测框 → 网格号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50442" y="4883468"/>
              <a:ext cx="69378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取检测框中心点，落在哪个网格就归哪一格；不落格即判 out_of_grid，走跳过路径。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23494" y="5637848"/>
            <a:ext cx="6526098" cy="381381"/>
            <a:chOff x="523494" y="5637848"/>
            <a:chExt cx="6526098" cy="381381"/>
          </a:xfrm>
        </p:grpSpPr>
        <p:sp>
          <p:nvSpPr>
            <p:cNvPr id="39" name="TextBox 39"/>
            <p:cNvSpPr txBox="1"/>
            <p:nvPr/>
          </p:nvSpPr>
          <p:spPr>
            <a:xfrm>
              <a:off x="523494" y="5637848"/>
              <a:ext cx="65260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两条线共用同一份识别逻辑 —— 差异只在</a:t>
              </a:r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「图从哪来」</a:t>
              </a:r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3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29554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real/camera.py · config/task.json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520640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阶段一：mechArm 仿真验收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68994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单个 Launch 起全套 · 记分轮 verdict = PASS（5/6）· 异常轮单独跑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10" name="launch"/>
          <p:cNvGrpSpPr/>
          <p:nvPr/>
        </p:nvGrpSpPr>
        <p:grpSpPr>
          <a:xfrm>
            <a:off x="533400" y="1809750"/>
            <a:ext cx="11131296" cy="838200"/>
            <a:chOff x="533400" y="1809750"/>
            <a:chExt cx="11131296" cy="838200"/>
          </a:xfrm>
        </p:grpSpPr>
        <p:sp>
          <p:nvSpPr>
            <p:cNvPr id="6" name="Rectangle 6"/>
            <p:cNvSpPr/>
            <p:nvPr/>
          </p:nvSpPr>
          <p:spPr>
            <a:xfrm>
              <a:off x="533400" y="1809750"/>
              <a:ext cx="11125200" cy="838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2104" y="2042160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启动方式　一个入口起全套（检测源见页底口径）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1342" y="2349818"/>
              <a:ext cx="39119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ros2 launch exp3_sim exp3_sim.launch.py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74376" y="236601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任务书 §六 最后一条</a:t>
              </a:r>
            </a:p>
          </p:txBody>
        </p:sp>
      </p:grpSp>
      <p:grpSp>
        <p:nvGrpSpPr>
          <p:cNvPr id="41" name="evidence-cards"/>
          <p:cNvGrpSpPr/>
          <p:nvPr/>
        </p:nvGrpSpPr>
        <p:grpSpPr>
          <a:xfrm>
            <a:off x="533400" y="2838450"/>
            <a:ext cx="11125200" cy="1676400"/>
            <a:chOff x="533400" y="2838450"/>
            <a:chExt cx="11125200" cy="1676400"/>
          </a:xfrm>
        </p:grpSpPr>
        <p:sp>
          <p:nvSpPr>
            <p:cNvPr id="11" name="Rectangle 11"/>
            <p:cNvSpPr/>
            <p:nvPr/>
          </p:nvSpPr>
          <p:spPr>
            <a:xfrm>
              <a:off x="533400" y="2838450"/>
              <a:ext cx="3562350" cy="1676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33400" y="2838450"/>
              <a:ext cx="35623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00100" y="3143250"/>
              <a:ext cx="152400" cy="152400"/>
              <a:chOff x="800100" y="3143250"/>
              <a:chExt cx="152400" cy="1524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00100" y="31432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47625"/>
                    </a:lnTo>
                    <a:cubicBezTo>
                      <a:pt x="57150" y="52886"/>
                      <a:pt x="52886" y="57150"/>
                      <a:pt x="47625" y="57150"/>
                    </a:cubicBezTo>
                    <a:lnTo>
                      <a:pt x="9525" y="57150"/>
                    </a:lnTo>
                    <a:cubicBezTo>
                      <a:pt x="4264" y="57150"/>
                      <a:pt x="0" y="52886"/>
                      <a:pt x="0" y="476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95350" y="31432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47625"/>
                    </a:lnTo>
                    <a:cubicBezTo>
                      <a:pt x="57150" y="52886"/>
                      <a:pt x="52886" y="57150"/>
                      <a:pt x="47625" y="57150"/>
                    </a:cubicBezTo>
                    <a:lnTo>
                      <a:pt x="9525" y="57150"/>
                    </a:lnTo>
                    <a:cubicBezTo>
                      <a:pt x="4264" y="57150"/>
                      <a:pt x="0" y="52886"/>
                      <a:pt x="0" y="476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00100" y="32385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47625"/>
                    </a:lnTo>
                    <a:cubicBezTo>
                      <a:pt x="57150" y="52886"/>
                      <a:pt x="52886" y="57150"/>
                      <a:pt x="47625" y="57150"/>
                    </a:cubicBezTo>
                    <a:lnTo>
                      <a:pt x="9525" y="57150"/>
                    </a:lnTo>
                    <a:cubicBezTo>
                      <a:pt x="4264" y="57150"/>
                      <a:pt x="0" y="52886"/>
                      <a:pt x="0" y="476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95350" y="32385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47625"/>
                    </a:lnTo>
                    <a:cubicBezTo>
                      <a:pt x="57150" y="52886"/>
                      <a:pt x="52886" y="57150"/>
                      <a:pt x="47625" y="57150"/>
                    </a:cubicBezTo>
                    <a:lnTo>
                      <a:pt x="9525" y="57150"/>
                    </a:lnTo>
                    <a:cubicBezTo>
                      <a:pt x="4264" y="57150"/>
                      <a:pt x="0" y="52886"/>
                      <a:pt x="0" y="476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135380" y="31337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物体分类结果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6285" y="3593306"/>
              <a:ext cx="18131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records.jsonl 逐物体记录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2094" y="3866198"/>
              <a:ext cx="15432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5 / 6　PASS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7047" y="4238149"/>
              <a:ext cx="24835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result.json：placed_ok / objects_seen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314825" y="2838450"/>
              <a:ext cx="3562350" cy="1676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314825" y="2838450"/>
              <a:ext cx="35623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4561664" y="3130561"/>
              <a:ext cx="192114" cy="165051"/>
              <a:chOff x="4561664" y="3130561"/>
              <a:chExt cx="192114" cy="16505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657725" y="319087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561664" y="313056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657725" y="3257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4916805" y="31337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异常处理结果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7710" y="3593306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空网格 + 未识别各留记录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33519" y="3866198"/>
              <a:ext cx="74790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TRIAL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38472" y="4238149"/>
              <a:ext cx="16787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异常轮 c3 零记录，其余 5/5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096250" y="2838450"/>
              <a:ext cx="3562350" cy="1676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096250" y="2838450"/>
              <a:ext cx="35623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340571" y="3133725"/>
              <a:ext cx="186006" cy="171450"/>
              <a:chOff x="8340571" y="3133725"/>
              <a:chExt cx="186006" cy="17145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40571" y="3133725"/>
                <a:ext cx="186006" cy="169983"/>
              </a:xfrm>
              <a:custGeom>
                <a:avLst/>
                <a:gdLst/>
                <a:ahLst/>
                <a:cxnLst/>
                <a:rect l="l" t="t" r="r" b="b"/>
                <a:pathLst>
                  <a:path w="186006" h="169983">
                    <a:moveTo>
                      <a:pt x="93436" y="169983"/>
                    </a:moveTo>
                    <a:cubicBezTo>
                      <a:pt x="33766" y="151487"/>
                      <a:pt x="0" y="88510"/>
                      <a:pt x="17617" y="28575"/>
                    </a:cubicBezTo>
                    <a:cubicBezTo>
                      <a:pt x="47292" y="29933"/>
                      <a:pt x="76331" y="19684"/>
                      <a:pt x="98579" y="0"/>
                    </a:cubicBezTo>
                    <a:cubicBezTo>
                      <a:pt x="120828" y="19684"/>
                      <a:pt x="149867" y="29933"/>
                      <a:pt x="179542" y="28575"/>
                    </a:cubicBezTo>
                    <a:cubicBezTo>
                      <a:pt x="186006" y="50569"/>
                      <a:pt x="185708" y="73999"/>
                      <a:pt x="178685" y="95822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467725" y="32670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698230" y="31337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规划与限位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19135" y="359330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六段动作链的规划失败次数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14944" y="3866198"/>
              <a:ext cx="5166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 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19897" y="4238149"/>
              <a:ext cx="1814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叠第 2 层仍有 LCP 爆解 → 遗留</a:t>
              </a:r>
            </a:p>
          </p:txBody>
        </p:sp>
      </p:grpSp>
      <p:grpSp>
        <p:nvGrpSpPr>
          <p:cNvPr id="46" name="why-blank"/>
          <p:cNvGrpSpPr/>
          <p:nvPr/>
        </p:nvGrpSpPr>
        <p:grpSpPr>
          <a:xfrm>
            <a:off x="533400" y="4743450"/>
            <a:ext cx="11125200" cy="1104900"/>
            <a:chOff x="533400" y="4743450"/>
            <a:chExt cx="11125200" cy="1104900"/>
          </a:xfrm>
        </p:grpSpPr>
        <p:sp>
          <p:nvSpPr>
            <p:cNvPr id="42" name="Rectangle 42"/>
            <p:cNvSpPr/>
            <p:nvPr/>
          </p:nvSpPr>
          <p:spPr>
            <a:xfrm>
              <a:off x="533400" y="4743450"/>
              <a:ext cx="11125200" cy="1104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30580" y="49434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这一页数字的口径（必须分开陈述）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2104" y="5299710"/>
              <a:ext cx="7604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记分轮的检测框由真值投影给出：物块世界坐标经同一份相机标定投影为像素，再走完全相同的映射链路。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2104" y="5566410"/>
              <a:ext cx="74547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原因是容器内无 GPU、Gazebo 软渲染会停帧；故本页只证明标定与执行链，不声称 HSV 检测全程有效。</a:t>
              </a:r>
            </a:p>
          </p:txBody>
        </p:sp>
      </p:grpSp>
      <p:grpSp>
        <p:nvGrpSpPr>
          <p:cNvPr id="49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295549"/>
              <a:ext cx="28397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ros2/exp3_sim/launch/exp3_sim.launch.py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38886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EP 的形态决定了设计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86129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臂只有一个水平自由度，横向覆盖必须靠底盘转向 —— 这就是网格号到固定位姿表的由来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25" name="ep-form"/>
          <p:cNvGrpSpPr/>
          <p:nvPr/>
        </p:nvGrpSpPr>
        <p:grpSpPr>
          <a:xfrm>
            <a:off x="525780" y="1809750"/>
            <a:ext cx="11132820" cy="3505200"/>
            <a:chOff x="525780" y="1809750"/>
            <a:chExt cx="11132820" cy="3505200"/>
          </a:xfrm>
        </p:grpSpPr>
        <p:sp>
          <p:nvSpPr>
            <p:cNvPr id="6" name="Rectangle 6"/>
            <p:cNvSpPr/>
            <p:nvPr/>
          </p:nvSpPr>
          <p:spPr>
            <a:xfrm>
              <a:off x="533400" y="1809750"/>
              <a:ext cx="11125200" cy="87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25780" y="2047875"/>
              <a:ext cx="22985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全向底盘 + 2 轴臂 + 夹爪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7685" y="23550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工程形态（不是步兵形态）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60342" y="2064068"/>
              <a:ext cx="3593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扫一遍、按格抓、按类放 —— 作业区是静态的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61485" y="23550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任务书原文不要求任意位置抓取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3562350"/>
              <a:ext cx="11125200" cy="87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5780" y="38004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臂只有一个水平自由度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7685" y="4107656"/>
              <a:ext cx="2092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前伸 ≈ 0.22 m　垂直 ≈ 0.15 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60342" y="38166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横向覆盖必须靠底盘转向到固定位姿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61485" y="4107656"/>
              <a:ext cx="27091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⇒ 网格号到固定位姿表，就是从这里来的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4152900" y="1809750"/>
              <a:ext cx="9525" cy="3505200"/>
            </a:xfrm>
            <a:custGeom>
              <a:avLst/>
              <a:gdLst/>
              <a:ahLst/>
              <a:cxnLst/>
              <a:rect l="l" t="t" r="r" b="b"/>
              <a:pathLst>
                <a:path w="9525" h="3505200">
                  <a:moveTo>
                    <a:pt x="0" y="0"/>
                  </a:moveTo>
                  <a:lnTo>
                    <a:pt x="0" y="350520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5780" y="2924175"/>
              <a:ext cx="3105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 ROS 2，只有官方 Python SDK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7685" y="3231356"/>
              <a:ext cx="21127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真机侧因此不存在 Launch 文件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60342" y="29403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单条命令启动整链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61485" y="32313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口径已与老师确认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5780" y="46767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底盘定位是开环里程计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7685" y="4983956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原点 = 上次上电处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60342" y="469296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位姿随上电作废，臂与夹爪档位不受影响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61485" y="49839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所以换场地或重启必须重标底盘</a:t>
              </a:r>
            </a:p>
          </p:txBody>
        </p:sp>
      </p:grpSp>
      <p:grpSp>
        <p:nvGrpSpPr>
          <p:cNvPr id="27" name="takeaway"/>
          <p:cNvGrpSpPr/>
          <p:nvPr/>
        </p:nvGrpSpPr>
        <p:grpSpPr>
          <a:xfrm>
            <a:off x="523494" y="5637848"/>
            <a:ext cx="6172825" cy="381381"/>
            <a:chOff x="523494" y="5637848"/>
            <a:chExt cx="6172825" cy="381381"/>
          </a:xfrm>
        </p:grpSpPr>
        <p:sp>
          <p:nvSpPr>
            <p:cNvPr id="26" name="TextBox 26"/>
            <p:cNvSpPr txBox="1"/>
            <p:nvPr/>
          </p:nvSpPr>
          <p:spPr>
            <a:xfrm>
              <a:off x="523494" y="5637848"/>
              <a:ext cx="61728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设计不是照搬仿真 —— EP 的形态本身就是</a:t>
              </a:r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约束条件</a:t>
              </a:r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0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6295549"/>
              <a:ext cx="34400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config_real/ep_waypoints.json · real/标定说明.md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483077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六段动作到 EP 原语的映射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6902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只报这一段的代码真能做出来的判断，不替谁宣布一个没人做过的判定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49" name="stage-map"/>
          <p:cNvGrpSpPr/>
          <p:nvPr/>
        </p:nvGrpSpPr>
        <p:grpSpPr>
          <a:xfrm>
            <a:off x="527685" y="1878806"/>
            <a:ext cx="11130915" cy="3172778"/>
            <a:chOff x="527685" y="1878806"/>
            <a:chExt cx="11130915" cy="3172778"/>
          </a:xfrm>
        </p:grpSpPr>
        <p:sp>
          <p:nvSpPr>
            <p:cNvPr id="6" name="TextBox 6"/>
            <p:cNvSpPr txBox="1"/>
            <p:nvPr/>
          </p:nvSpPr>
          <p:spPr>
            <a:xfrm>
              <a:off x="527685" y="18788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段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956685" y="1878806"/>
              <a:ext cx="20598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EP 原语（ep/drive/rm.py）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62035" y="1878806"/>
              <a:ext cx="14860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失败时给出的 reason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33400" y="20764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33400" y="2152650"/>
              <a:ext cx="111252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33400" y="2247900"/>
              <a:ext cx="3048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33058" y="23183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6785" y="235505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approach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99285" y="23550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运动到格上方并下探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57066" y="2363152"/>
              <a:ext cx="29649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goto(cell_pose) → arm_moveto(grab_low)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62035" y="2355056"/>
              <a:ext cx="15040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unreachable_target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143250"/>
              <a:ext cx="111252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3238500"/>
              <a:ext cx="3048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3058" y="33089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785" y="33456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lift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99285" y="3345656"/>
              <a:ext cx="1255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抬到高位，判 held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57066" y="3353752"/>
              <a:ext cx="25722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arm_moveto(lift_high) + HELD 确认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62035" y="3345656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grasp_failed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133850"/>
              <a:ext cx="111252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229100"/>
              <a:ext cx="3048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058" y="42995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33625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release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99285" y="4336256"/>
              <a:ext cx="16171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下放 · 松爪 · 判 placed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57066" y="4344352"/>
              <a:ext cx="4217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arm_moveto(release_low) → gripper_open() + PLACED 确认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62035" y="4336256"/>
              <a:ext cx="1918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dropped_or_missed_place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2743200"/>
              <a:ext cx="304800" cy="304800"/>
            </a:xfrm>
            <a:prstGeom prst="rect">
              <a:avLst/>
            </a:prstGeom>
            <a:solidFill>
              <a:srgbClr val="5A667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3058" y="28136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785" y="285035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grasp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99285" y="28503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压紧夹爪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57066" y="2858452"/>
              <a:ext cx="1176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gripper_close()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62035" y="2850356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exec_error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733800"/>
              <a:ext cx="304800" cy="304800"/>
            </a:xfrm>
            <a:prstGeom prst="rect">
              <a:avLst/>
            </a:prstGeom>
            <a:solidFill>
              <a:srgbClr val="5A667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058" y="38042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6785" y="384095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carry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99285" y="38409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移到料盒上方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957066" y="3849052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goto(bin_pose)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62035" y="3840956"/>
              <a:ext cx="15040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unreachable_target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724400"/>
              <a:ext cx="304800" cy="304800"/>
            </a:xfrm>
            <a:prstGeom prst="rect">
              <a:avLst/>
            </a:prstGeom>
            <a:solidFill>
              <a:srgbClr val="5A667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3058" y="47948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6785" y="483155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retract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899285" y="48315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退回安全位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957066" y="4839652"/>
              <a:ext cx="30426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arm_moveto(lift_high) + goto(home_pose)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62035" y="4831556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exec_error</a:t>
              </a:r>
            </a:p>
          </p:txBody>
        </p:sp>
      </p:grpSp>
      <p:grpSp>
        <p:nvGrpSpPr>
          <p:cNvPr id="51" name="note"/>
          <p:cNvGrpSpPr/>
          <p:nvPr/>
        </p:nvGrpSpPr>
        <p:grpSpPr>
          <a:xfrm>
            <a:off x="526923" y="5405914"/>
            <a:ext cx="6369050" cy="516064"/>
            <a:chOff x="526923" y="5405914"/>
            <a:chExt cx="6369050" cy="516064"/>
          </a:xfrm>
        </p:grpSpPr>
        <p:sp>
          <p:nvSpPr>
            <p:cNvPr id="50" name="TextBox 50"/>
            <p:cNvSpPr txBox="1"/>
            <p:nvPr/>
          </p:nvSpPr>
          <p:spPr>
            <a:xfrm>
              <a:off x="526923" y="5405914"/>
              <a:ext cx="6369050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唯一不同的一段是 retract：仿真报 unreachable_target（来自规划器的可达性判定）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真机报 exec_error —— EP 没有规划层，没有任何东西产出过「不可达」这个结论</a:t>
              </a:r>
            </a:p>
          </p:txBody>
        </p:sp>
      </p:grpSp>
      <p:grpSp>
        <p:nvGrpSpPr>
          <p:cNvPr id="54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295549"/>
              <a:ext cx="42909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real/ep_backend.py · ros2/task_control/pick_place_server.py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四份分开署名的标定，加一道硬闸门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77244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未标定一律写 null，启动先过闸门，没过连机器人都不连 —— 这是设计不是故障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24" name="calib-table"/>
          <p:cNvGrpSpPr/>
          <p:nvPr/>
        </p:nvGrpSpPr>
        <p:grpSpPr>
          <a:xfrm>
            <a:off x="533400" y="1809750"/>
            <a:ext cx="5905500" cy="2381250"/>
            <a:chOff x="533400" y="1809750"/>
            <a:chExt cx="5905500" cy="2381250"/>
          </a:xfrm>
        </p:grpSpPr>
        <p:sp>
          <p:nvSpPr>
            <p:cNvPr id="6" name="Rectangle 6"/>
            <p:cNvSpPr/>
            <p:nvPr/>
          </p:nvSpPr>
          <p:spPr>
            <a:xfrm>
              <a:off x="533400" y="1809750"/>
              <a:ext cx="5905500" cy="2381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3618" y="20126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四份记录，分开署名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2381250"/>
              <a:ext cx="5448300" cy="9525"/>
            </a:xfrm>
            <a:custGeom>
              <a:avLst/>
              <a:gdLst/>
              <a:ahLst/>
              <a:cxnLst/>
              <a:rect l="l" t="t" r="r" b="b"/>
              <a:pathLst>
                <a:path w="5448300" h="9525">
                  <a:moveTo>
                    <a:pt x="0" y="0"/>
                  </a:moveTo>
                  <a:lnTo>
                    <a:pt x="54483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7047" y="2523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记录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81047" y="25236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落在哪个文件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84292" y="2523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署名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523" y="27960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相机标定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80666" y="2820352"/>
              <a:ext cx="23429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task.json · camera.calibration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95062" y="28122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赵彦淞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5523" y="31580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取物网格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80666" y="3182302"/>
              <a:ext cx="22652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grid_cells.json · calibration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95062" y="31742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马晨曦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5523" y="35199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分类料盒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80666" y="3544252"/>
              <a:ext cx="17987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bins.json · calibration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95062" y="35361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马晨曦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5523" y="3881914"/>
              <a:ext cx="6252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EP 位姿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80666" y="3906202"/>
              <a:ext cx="24207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ep_waypoints.json · calibration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95062" y="38981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马晨曦</a:t>
              </a:r>
            </a:p>
          </p:txBody>
        </p:sp>
      </p:grpSp>
      <p:grpSp>
        <p:nvGrpSpPr>
          <p:cNvPr id="31" name="gate"/>
          <p:cNvGrpSpPr/>
          <p:nvPr/>
        </p:nvGrpSpPr>
        <p:grpSpPr>
          <a:xfrm>
            <a:off x="6667500" y="1809750"/>
            <a:ext cx="4991100" cy="2381250"/>
            <a:chOff x="6667500" y="1809750"/>
            <a:chExt cx="4991100" cy="2381250"/>
          </a:xfrm>
        </p:grpSpPr>
        <p:sp>
          <p:nvSpPr>
            <p:cNvPr id="25" name="Rectangle 25"/>
            <p:cNvSpPr/>
            <p:nvPr/>
          </p:nvSpPr>
          <p:spPr>
            <a:xfrm>
              <a:off x="6667500" y="1809750"/>
              <a:ext cx="4991100" cy="2381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87718" y="20316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硬闸门：没过就不连机器人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91147" y="2714149"/>
              <a:ext cx="44360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config_check.py --config-dir config_real --require-calibrated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896100" y="323850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9525">
              <a:solidFill>
                <a:srgbClr val="4A6FA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90004" y="3451860"/>
              <a:ext cx="30330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未标定的项一律写 null —— 不编占位值填上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90004" y="373761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闸门在连机器人之前，没有「跳过」选项</a:t>
              </a:r>
            </a:p>
          </p:txBody>
        </p:sp>
      </p:grpSp>
      <p:grpSp>
        <p:nvGrpSpPr>
          <p:cNvPr id="41" name="traps"/>
          <p:cNvGrpSpPr/>
          <p:nvPr/>
        </p:nvGrpSpPr>
        <p:grpSpPr>
          <a:xfrm>
            <a:off x="526542" y="4419600"/>
            <a:ext cx="11132058" cy="803434"/>
            <a:chOff x="526542" y="4419600"/>
            <a:chExt cx="11132058" cy="803434"/>
          </a:xfrm>
        </p:grpSpPr>
        <p:sp>
          <p:nvSpPr>
            <p:cNvPr id="32" name="Rectangle 32"/>
            <p:cNvSpPr/>
            <p:nvPr/>
          </p:nvSpPr>
          <p:spPr>
            <a:xfrm>
              <a:off x="533400" y="4419600"/>
              <a:ext cx="35623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6542" y="4673918"/>
              <a:ext cx="21030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越界指令被 SDK 安静钳制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7685" y="5003006"/>
              <a:ext cx="3233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 WARN 不抛异常 —— 读回差 &gt;3 mm 就拒绝记录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314825" y="4419600"/>
              <a:ext cx="35623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307967" y="46739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里程计原点跟着上电位姿走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309110" y="5003006"/>
              <a:ext cx="2597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换场地或重启 ⇒ 底盘位姿全部作废重标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096250" y="4419600"/>
              <a:ext cx="35623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089392" y="46739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相机被碰没有提示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90535" y="500300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现象酷似底盘漂移；跑前用网格纸已知角点复核</a:t>
              </a:r>
            </a:p>
          </p:txBody>
        </p:sp>
      </p:grpSp>
      <p:grpSp>
        <p:nvGrpSpPr>
          <p:cNvPr id="44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295549"/>
              <a:ext cx="3875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real/calibrate.py · config_check.py · real/标定说明.md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32613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真机记分轮的结果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471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结论由 result.json 的字段给出，不由口述给出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26" name="result-fields"/>
          <p:cNvGrpSpPr/>
          <p:nvPr/>
        </p:nvGrpSpPr>
        <p:grpSpPr>
          <a:xfrm>
            <a:off x="533400" y="1809750"/>
            <a:ext cx="11125200" cy="1790700"/>
            <a:chOff x="533400" y="1809750"/>
            <a:chExt cx="11125200" cy="1790700"/>
          </a:xfrm>
        </p:grpSpPr>
        <p:sp>
          <p:nvSpPr>
            <p:cNvPr id="6" name="Rectangle 6"/>
            <p:cNvSpPr/>
            <p:nvPr/>
          </p:nvSpPr>
          <p:spPr>
            <a:xfrm>
              <a:off x="533400" y="1809750"/>
              <a:ext cx="2609850" cy="1790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33400" y="1809750"/>
              <a:ext cx="26098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5142" y="214026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verdict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6760" y="2686050"/>
              <a:ext cx="12420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待回填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7047" y="3209449"/>
              <a:ext cx="12574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PASS / FAIL / TRIAL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371850" y="1809750"/>
              <a:ext cx="2609850" cy="1790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371850" y="1809750"/>
              <a:ext cx="26098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93592" y="2140268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placed_ok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85210" y="2686050"/>
              <a:ext cx="98459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? / 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95497" y="3209449"/>
              <a:ext cx="1896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正确分类放置数 · pass_line = 5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210300" y="1809750"/>
              <a:ext cx="2609850" cy="1790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10300" y="1809750"/>
              <a:ext cx="26098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32042" y="2140268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objects_seen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23660" y="2686050"/>
              <a:ext cx="12420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待回填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33947" y="3209449"/>
              <a:ext cx="19954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上桌物体数 · required_total = 6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048750" y="1809750"/>
              <a:ext cx="2609850" cy="1790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9048750" y="1809750"/>
              <a:ext cx="26098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70492" y="214026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exit_status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262110" y="2686050"/>
              <a:ext cx="12420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待回填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72397" y="3209449"/>
              <a:ext cx="22724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no_target / no_exec / safety_stop</a:t>
              </a:r>
            </a:p>
          </p:txBody>
        </p:sp>
      </p:grpSp>
      <p:grpSp>
        <p:nvGrpSpPr>
          <p:cNvPr id="30" name="exit-status"/>
          <p:cNvGrpSpPr/>
          <p:nvPr/>
        </p:nvGrpSpPr>
        <p:grpSpPr>
          <a:xfrm>
            <a:off x="533400" y="3829050"/>
            <a:ext cx="11125200" cy="762000"/>
            <a:chOff x="533400" y="3829050"/>
            <a:chExt cx="11125200" cy="762000"/>
          </a:xfrm>
        </p:grpSpPr>
        <p:sp>
          <p:nvSpPr>
            <p:cNvPr id="27" name="Rectangle 27"/>
            <p:cNvSpPr/>
            <p:nvPr/>
          </p:nvSpPr>
          <p:spPr>
            <a:xfrm>
              <a:off x="533400" y="3829050"/>
              <a:ext cx="111252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1342" y="4007168"/>
              <a:ext cx="1722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exit_status 说什么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2104" y="4309110"/>
              <a:ext cx="70070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no_target = 全部处理完（正常结束）　no_exec = 只剩不可执行目标　safety_stop = 保护停止</a:t>
              </a:r>
            </a:p>
          </p:txBody>
        </p:sp>
      </p:grpSp>
      <p:grpSp>
        <p:nvGrpSpPr>
          <p:cNvPr id="39" name="video"/>
          <p:cNvGrpSpPr/>
          <p:nvPr/>
        </p:nvGrpSpPr>
        <p:grpSpPr>
          <a:xfrm>
            <a:off x="533400" y="4819650"/>
            <a:ext cx="11125200" cy="1085850"/>
            <a:chOff x="533400" y="4819650"/>
            <a:chExt cx="11125200" cy="1085850"/>
          </a:xfrm>
        </p:grpSpPr>
        <p:sp>
          <p:nvSpPr>
            <p:cNvPr id="31" name="Rectangle 31"/>
            <p:cNvSpPr/>
            <p:nvPr/>
          </p:nvSpPr>
          <p:spPr>
            <a:xfrm>
              <a:off x="533400" y="4819650"/>
              <a:ext cx="111252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871538" y="5267325"/>
              <a:ext cx="200025" cy="133350"/>
              <a:chOff x="871538" y="5267325"/>
              <a:chExt cx="200025" cy="13335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1004888" y="5284762"/>
                <a:ext cx="66675" cy="98476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8476">
                    <a:moveTo>
                      <a:pt x="0" y="27013"/>
                    </a:moveTo>
                    <a:lnTo>
                      <a:pt x="50595" y="1721"/>
                    </a:lnTo>
                    <a:cubicBezTo>
                      <a:pt x="54039" y="0"/>
                      <a:pt x="58128" y="184"/>
                      <a:pt x="61403" y="2208"/>
                    </a:cubicBezTo>
                    <a:cubicBezTo>
                      <a:pt x="64679" y="4231"/>
                      <a:pt x="66673" y="7806"/>
                      <a:pt x="66675" y="11655"/>
                    </a:cubicBezTo>
                    <a:lnTo>
                      <a:pt x="66675" y="86821"/>
                    </a:lnTo>
                    <a:cubicBezTo>
                      <a:pt x="66673" y="90670"/>
                      <a:pt x="64679" y="94245"/>
                      <a:pt x="61403" y="96268"/>
                    </a:cubicBezTo>
                    <a:cubicBezTo>
                      <a:pt x="58128" y="98292"/>
                      <a:pt x="54039" y="98476"/>
                      <a:pt x="50595" y="96755"/>
                    </a:cubicBezTo>
                    <a:lnTo>
                      <a:pt x="0" y="71463"/>
                    </a:lnTo>
                    <a:lnTo>
                      <a:pt x="0" y="2701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52673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111125"/>
                    </a:lnTo>
                    <a:cubicBezTo>
                      <a:pt x="133350" y="123400"/>
                      <a:pt x="123400" y="133350"/>
                      <a:pt x="111125" y="133350"/>
                    </a:cubicBezTo>
                    <a:lnTo>
                      <a:pt x="22225" y="133350"/>
                    </a:lnTo>
                    <a:cubicBezTo>
                      <a:pt x="9950" y="133350"/>
                      <a:pt x="0" y="123400"/>
                      <a:pt x="0" y="11112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249680" y="51530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真机视频关键帧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51204" y="5509260"/>
              <a:ext cx="49715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答辩只播视频，不现场复现 —— 截帧与关键帧路径待现场产出后回填。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953500" y="4991100"/>
              <a:ext cx="2438400" cy="74295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  <a:custDash>
                <a:ds d="400000" sp="300000"/>
              </a:custDash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681972" y="52997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视频截帧占位</a:t>
              </a:r>
            </a:p>
          </p:txBody>
        </p:sp>
      </p:grpSp>
      <p:grpSp>
        <p:nvGrpSpPr>
          <p:cNvPr id="42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295549"/>
              <a:ext cx="37104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exp3_logs_real/run_*/result.json · real/run_real.py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496060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四类异常 → 我们的两条路径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645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空网格不产生原因码，正确的证据是那一格根本没有产生任何记录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19" name="paths"/>
          <p:cNvGrpSpPr/>
          <p:nvPr/>
        </p:nvGrpSpPr>
        <p:grpSpPr>
          <a:xfrm>
            <a:off x="533400" y="1809750"/>
            <a:ext cx="5905500" cy="2857500"/>
            <a:chOff x="533400" y="1809750"/>
            <a:chExt cx="5905500" cy="2857500"/>
          </a:xfrm>
        </p:grpSpPr>
        <p:sp>
          <p:nvSpPr>
            <p:cNvPr id="6" name="Rectangle 6"/>
            <p:cNvSpPr/>
            <p:nvPr/>
          </p:nvSpPr>
          <p:spPr>
            <a:xfrm>
              <a:off x="533400" y="1809750"/>
              <a:ext cx="5905500" cy="2857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3618" y="201263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跳过类　不产生失败，不打断其余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2381250"/>
              <a:ext cx="5448300" cy="9525"/>
            </a:xfrm>
            <a:custGeom>
              <a:avLst/>
              <a:gdLst/>
              <a:ahLst/>
              <a:cxnLst/>
              <a:rect l="l" t="t" r="r" b="b"/>
              <a:pathLst>
                <a:path w="5448300" h="9525">
                  <a:moveTo>
                    <a:pt x="0" y="0"/>
                  </a:moveTo>
                  <a:lnTo>
                    <a:pt x="54483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5523" y="26246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空网格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71166" y="2648902"/>
              <a:ext cx="21521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不产生任何记录，也不进 reasons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523" y="298656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未识别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71166" y="3010852"/>
              <a:ext cx="21874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decision=skip，按格去重只记一条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523" y="33485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网格外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71166" y="3372802"/>
              <a:ext cx="1763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decision=skip，不尝试抓取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62000" y="3771900"/>
              <a:ext cx="5448300" cy="9525"/>
            </a:xfrm>
            <a:custGeom>
              <a:avLst/>
              <a:gdLst/>
              <a:ahLst/>
              <a:cxnLst/>
              <a:rect l="l" t="t" r="r" b="b"/>
              <a:pathLst>
                <a:path w="5448300" h="9525">
                  <a:moveTo>
                    <a:pt x="0" y="0"/>
                  </a:moveTo>
                  <a:lnTo>
                    <a:pt x="54483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3618" y="39176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失败类　立即回安全态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5523" y="4320064"/>
              <a:ext cx="1427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抓取失败 · 不可达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33166" y="4344352"/>
              <a:ext cx="17775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safe_reset；连续失败停线</a:t>
              </a:r>
            </a:p>
          </p:txBody>
        </p:sp>
      </p:grpSp>
      <p:grpSp>
        <p:nvGrpSpPr>
          <p:cNvPr id="28" name="empty-cell"/>
          <p:cNvGrpSpPr/>
          <p:nvPr/>
        </p:nvGrpSpPr>
        <p:grpSpPr>
          <a:xfrm>
            <a:off x="6667500" y="1809750"/>
            <a:ext cx="4991100" cy="2857500"/>
            <a:chOff x="6667500" y="1809750"/>
            <a:chExt cx="4991100" cy="2857500"/>
          </a:xfrm>
        </p:grpSpPr>
        <p:sp>
          <p:nvSpPr>
            <p:cNvPr id="20" name="Rectangle 20"/>
            <p:cNvSpPr/>
            <p:nvPr/>
          </p:nvSpPr>
          <p:spPr>
            <a:xfrm>
              <a:off x="6667500" y="1809750"/>
              <a:ext cx="4991100" cy="285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87718" y="20126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空网格的证据是什么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896100" y="238125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9525">
              <a:solidFill>
                <a:srgbClr val="4A6FA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89242" y="26355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不是原因码，是「那一格没有记录」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90004" y="3032760"/>
              <a:ext cx="2801112" cy="539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证据一　records.jsonl 里没有该格</a:t>
              </a:r>
              <a:br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证据二　result.json 的 reasons 没有它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896100" y="375285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9525">
              <a:solidFill>
                <a:srgbClr val="4A6FA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90004" y="3985260"/>
              <a:ext cx="235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空网格轮 verdict 必然是 TRIAL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90004" y="42710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必须与记分轮分开跑，不能混在一轮里</a:t>
              </a:r>
            </a:p>
          </p:txBody>
        </p:sp>
      </p:grpSp>
      <p:grpSp>
        <p:nvGrpSpPr>
          <p:cNvPr id="33" name="recovery"/>
          <p:cNvGrpSpPr/>
          <p:nvPr/>
        </p:nvGrpSpPr>
        <p:grpSpPr>
          <a:xfrm>
            <a:off x="533400" y="4895850"/>
            <a:ext cx="11125200" cy="1028700"/>
            <a:chOff x="533400" y="4895850"/>
            <a:chExt cx="11125200" cy="1028700"/>
          </a:xfrm>
        </p:grpSpPr>
        <p:sp>
          <p:nvSpPr>
            <p:cNvPr id="29" name="Rectangle 29"/>
            <p:cNvSpPr/>
            <p:nvPr/>
          </p:nvSpPr>
          <p:spPr>
            <a:xfrm>
              <a:off x="533400" y="4895850"/>
              <a:ext cx="11125200" cy="102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871538" y="5321300"/>
              <a:ext cx="200026" cy="177801"/>
            </a:xfrm>
            <a:custGeom>
              <a:avLst/>
              <a:gdLst/>
              <a:ahLst/>
              <a:cxnLst/>
              <a:rect l="l" t="t" r="r" b="b"/>
              <a:pathLst>
                <a:path w="200026" h="177801">
                  <a:moveTo>
                    <a:pt x="0" y="88900"/>
                  </a:moveTo>
                  <a:lnTo>
                    <a:pt x="44450" y="88900"/>
                  </a:lnTo>
                  <a:lnTo>
                    <a:pt x="77788" y="177801"/>
                  </a:lnTo>
                  <a:lnTo>
                    <a:pt x="122238" y="0"/>
                  </a:lnTo>
                  <a:lnTo>
                    <a:pt x="155575" y="88900"/>
                  </a:lnTo>
                  <a:lnTo>
                    <a:pt x="200026" y="88900"/>
                  </a:lnTo>
                </a:path>
              </a:pathLst>
            </a:custGeom>
            <a:noFill/>
            <a:ln w="22225">
              <a:solidFill>
                <a:schemeClr val="accent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49680" y="51720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偶发抖动与真卡死必须能分开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51204" y="5528310"/>
              <a:ext cx="8541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单次失败只累计 fail_streak 并重扫重试；连续 3 次（fail_limit）才 safety_stop —— 避免一次误检就中断整轮验收。</a:t>
              </a:r>
            </a:p>
          </p:txBody>
        </p:sp>
      </p:grpSp>
      <p:grpSp>
        <p:nvGrpSpPr>
          <p:cNvPr id="36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295549"/>
              <a:ext cx="28331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sort_core/task.py · docs/异常测试记录.md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68961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三个开关全关，代码自己给出证据等级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56697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不靠人记、不靠人声明 —— evidence_grade 由代码算出来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21" name="switches"/>
          <p:cNvGrpSpPr/>
          <p:nvPr/>
        </p:nvGrpSpPr>
        <p:grpSpPr>
          <a:xfrm>
            <a:off x="533400" y="1809750"/>
            <a:ext cx="11125200" cy="1714500"/>
            <a:chOff x="533400" y="1809750"/>
            <a:chExt cx="11125200" cy="1714500"/>
          </a:xfrm>
        </p:grpSpPr>
        <p:sp>
          <p:nvSpPr>
            <p:cNvPr id="6" name="Rectangle 6"/>
            <p:cNvSpPr/>
            <p:nvPr/>
          </p:nvSpPr>
          <p:spPr>
            <a:xfrm>
              <a:off x="533400" y="1809750"/>
              <a:ext cx="356235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33400" y="1809750"/>
              <a:ext cx="35623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5142" y="2121218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--dry-run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5904" y="2575560"/>
              <a:ext cx="20793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没碰真机，用假 EP 打动作链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666" y="2915602"/>
              <a:ext cx="18906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evidence_grade ⇒ rehearsal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314825" y="1809750"/>
              <a:ext cx="356235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314825" y="1809750"/>
              <a:ext cx="35623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36567" y="2121218"/>
              <a:ext cx="1413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--assume-judge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37329" y="25755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没人确认夹住、放正，一律算成功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38091" y="2915602"/>
              <a:ext cx="18906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evidence_grade ⇒ rehearsal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96250" y="1809750"/>
              <a:ext cx="356235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096250" y="1809750"/>
              <a:ext cx="35623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17992" y="2121218"/>
              <a:ext cx="1413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--confirm-each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18754" y="2575560"/>
              <a:ext cx="23868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人按回车才动作 —— 人工触发动作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19516" y="2915602"/>
              <a:ext cx="18906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evidence_grade ⇒ rehearsal</a:t>
              </a:r>
            </a:p>
          </p:txBody>
        </p:sp>
      </p:grpSp>
      <p:grpSp>
        <p:nvGrpSpPr>
          <p:cNvPr id="25" name="grade"/>
          <p:cNvGrpSpPr/>
          <p:nvPr/>
        </p:nvGrpSpPr>
        <p:grpSpPr>
          <a:xfrm>
            <a:off x="533400" y="3752850"/>
            <a:ext cx="11125200" cy="1047750"/>
            <a:chOff x="533400" y="3752850"/>
            <a:chExt cx="11125200" cy="1047750"/>
          </a:xfrm>
        </p:grpSpPr>
        <p:sp>
          <p:nvSpPr>
            <p:cNvPr id="22" name="Rectangle 22"/>
            <p:cNvSpPr/>
            <p:nvPr/>
          </p:nvSpPr>
          <p:spPr>
            <a:xfrm>
              <a:off x="533400" y="3752850"/>
              <a:ext cx="1112520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9818" y="3993832"/>
              <a:ext cx="52816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三个全关 ⇒ acceptance　·　任一开启 ⇒ rehearsal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2104" y="4385310"/>
              <a:ext cx="67808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记分轮要的就是那一行 acceptance —— 它写在 real_run.json 里，与 result.json 分开存放。</a:t>
              </a:r>
            </a:p>
          </p:txBody>
        </p:sp>
      </p:grpSp>
      <p:grpSp>
        <p:nvGrpSpPr>
          <p:cNvPr id="29" name="realrun"/>
          <p:cNvGrpSpPr/>
          <p:nvPr/>
        </p:nvGrpSpPr>
        <p:grpSpPr>
          <a:xfrm>
            <a:off x="533400" y="5029200"/>
            <a:ext cx="11125200" cy="895350"/>
            <a:chOff x="533400" y="5029200"/>
            <a:chExt cx="11125200" cy="895350"/>
          </a:xfrm>
        </p:grpSpPr>
        <p:sp>
          <p:nvSpPr>
            <p:cNvPr id="26" name="Rectangle 26"/>
            <p:cNvSpPr/>
            <p:nvPr/>
          </p:nvSpPr>
          <p:spPr>
            <a:xfrm>
              <a:off x="533400" y="5029200"/>
              <a:ext cx="11125200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1342" y="52454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real_run.json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2104" y="5566410"/>
              <a:ext cx="8105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evidence_grade · rehearsal_reasons · judge · calibration · operator_confirms（正常一轮 = 2 × 物体数）</a:t>
              </a:r>
            </a:p>
          </p:txBody>
        </p:sp>
      </p:grpSp>
      <p:grpSp>
        <p:nvGrpSpPr>
          <p:cNvPr id="32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295549"/>
              <a:ext cx="27144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real/run_real.py · real/标定说明.md §8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544826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三个「现象 → 根因 → 怎么办」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第三个问题证明我们不是跑通就完事，而是把语义推到了结论层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23" name="problems"/>
          <p:cNvGrpSpPr/>
          <p:nvPr/>
        </p:nvGrpSpPr>
        <p:grpSpPr>
          <a:xfrm>
            <a:off x="533400" y="1809750"/>
            <a:ext cx="11125200" cy="3562350"/>
            <a:chOff x="533400" y="1809750"/>
            <a:chExt cx="11125200" cy="3562350"/>
          </a:xfrm>
        </p:grpSpPr>
        <p:sp>
          <p:nvSpPr>
            <p:cNvPr id="6" name="TextBox 6"/>
            <p:cNvSpPr txBox="1"/>
            <p:nvPr/>
          </p:nvSpPr>
          <p:spPr>
            <a:xfrm>
              <a:off x="678180" y="19145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现象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9605" y="19145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根因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41030" y="19145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怎么办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33400" y="2209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33400" y="2286000"/>
              <a:ext cx="111252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323" y="2567464"/>
              <a:ext cx="1801114" cy="554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臂「抓不到」但读数很稳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看起来像抓取不稳定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60748" y="2567464"/>
              <a:ext cx="1841754" cy="554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越界指令被 SDK 安静钳制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这一档永远够不到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42173" y="2567464"/>
              <a:ext cx="1557274" cy="554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记录前核对读回值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差 &gt;3 mm 就拒绝写入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9323" y="3615214"/>
              <a:ext cx="1801114" cy="554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「没连上」和「跑挂了」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从文件上分不开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60748" y="3615214"/>
              <a:ext cx="2109978" cy="554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连不上时目录里只有 run.log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 result.json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42173" y="3615214"/>
              <a:ext cx="1931162" cy="554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照实写一份没跑成的运行</a:t>
              </a:r>
              <a:br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outcome=connect_failed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4381500"/>
              <a:ext cx="111252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9323" y="4662964"/>
              <a:ext cx="1768602" cy="554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空网格轮跑出来是 TRIAL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 PASS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60748" y="4662964"/>
              <a:ext cx="32553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verdict 只给完整的验收轮下 PASS / FAIL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42173" y="4662964"/>
              <a:ext cx="1475994" cy="554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单独排一轮异常测试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与记分轮分开跑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152900" y="1809750"/>
              <a:ext cx="9525" cy="3562350"/>
            </a:xfrm>
            <a:custGeom>
              <a:avLst/>
              <a:gdLst/>
              <a:ahLst/>
              <a:cxnLst/>
              <a:rect l="l" t="t" r="r" b="b"/>
              <a:pathLst>
                <a:path w="9525" h="3562350">
                  <a:moveTo>
                    <a:pt x="0" y="0"/>
                  </a:moveTo>
                  <a:lnTo>
                    <a:pt x="0" y="356235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7934325" y="1809750"/>
              <a:ext cx="9525" cy="3562350"/>
            </a:xfrm>
            <a:custGeom>
              <a:avLst/>
              <a:gdLst/>
              <a:ahLst/>
              <a:cxnLst/>
              <a:rect l="l" t="t" r="r" b="b"/>
              <a:pathLst>
                <a:path w="9525" h="3562350">
                  <a:moveTo>
                    <a:pt x="0" y="0"/>
                  </a:moveTo>
                  <a:lnTo>
                    <a:pt x="0" y="356235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25" name="takeaway"/>
          <p:cNvGrpSpPr/>
          <p:nvPr/>
        </p:nvGrpSpPr>
        <p:grpSpPr>
          <a:xfrm>
            <a:off x="524256" y="5692140"/>
            <a:ext cx="6508722" cy="352044"/>
            <a:chOff x="524256" y="5692140"/>
            <a:chExt cx="6508722" cy="352044"/>
          </a:xfrm>
        </p:grpSpPr>
        <p:sp>
          <p:nvSpPr>
            <p:cNvPr id="24" name="TextBox 24"/>
            <p:cNvSpPr txBox="1"/>
            <p:nvPr/>
          </p:nvSpPr>
          <p:spPr>
            <a:xfrm>
              <a:off x="524256" y="5692140"/>
              <a:ext cx="6508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第三个问题改变了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现场怎么排轮次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—— 这是跑出来才知道的。</a:t>
              </a:r>
            </a:p>
          </p:txBody>
        </p:sp>
      </p:grpSp>
      <p:grpSp>
        <p:nvGrpSpPr>
          <p:cNvPr id="28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26" name="TextBox 26"/>
            <p:cNvSpPr txBox="1"/>
            <p:nvPr/>
          </p:nvSpPr>
          <p:spPr>
            <a:xfrm>
              <a:off x="528447" y="6295549"/>
              <a:ext cx="25693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real/标定说明.md · sort_core/task.py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28575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分工落到文件上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72357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同一份 schema、两套数 —— 两条线各管各的配置，谁都不用抢同一个文件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33" name="roles"/>
          <p:cNvGrpSpPr/>
          <p:nvPr/>
        </p:nvGrpSpPr>
        <p:grpSpPr>
          <a:xfrm>
            <a:off x="533400" y="1809750"/>
            <a:ext cx="11125200" cy="2381250"/>
            <a:chOff x="533400" y="1809750"/>
            <a:chExt cx="11125200" cy="2381250"/>
          </a:xfrm>
        </p:grpSpPr>
        <p:sp>
          <p:nvSpPr>
            <p:cNvPr id="6" name="Rectangle 6"/>
            <p:cNvSpPr/>
            <p:nvPr/>
          </p:nvSpPr>
          <p:spPr>
            <a:xfrm>
              <a:off x="533400" y="1809750"/>
              <a:ext cx="3562350" cy="2381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33400" y="1809750"/>
              <a:ext cx="35623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2856" y="20726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马晨曦</a:t>
              </a:r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　组长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5904" y="242316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仿真线 · 任务控制核心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2724150"/>
              <a:ext cx="3105150" cy="9525"/>
            </a:xfrm>
            <a:custGeom>
              <a:avLst/>
              <a:gdLst/>
              <a:ahLst/>
              <a:cxnLst/>
              <a:rect l="l" t="t" r="r" b="b"/>
              <a:pathLst>
                <a:path w="3105150" h="9525">
                  <a:moveTo>
                    <a:pt x="0" y="0"/>
                  </a:moveTo>
                  <a:lnTo>
                    <a:pt x="310515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6666" y="293465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sort_core/　状态机 · 日志 schema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6666" y="3220402"/>
              <a:ext cx="25903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exp3_sim/　场景 · 取放链 · 真值检测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6666" y="3506152"/>
              <a:ext cx="1968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config/　场景坐标与落料槽位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3838099"/>
              <a:ext cx="12302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离线 260 项用例全绿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314825" y="1809750"/>
              <a:ext cx="3562350" cy="2381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314825" y="1809750"/>
              <a:ext cx="35623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34281" y="20726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赵彦淞</a:t>
              </a:r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　组员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37329" y="2423160"/>
              <a:ext cx="1499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识别线 · 相机与检测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543425" y="2724150"/>
              <a:ext cx="3105150" cy="9525"/>
            </a:xfrm>
            <a:custGeom>
              <a:avLst/>
              <a:gdLst/>
              <a:ahLst/>
              <a:cxnLst/>
              <a:rect l="l" t="t" r="r" b="b"/>
              <a:pathLst>
                <a:path w="3105150" h="9525">
                  <a:moveTo>
                    <a:pt x="0" y="0"/>
                  </a:moveTo>
                  <a:lnTo>
                    <a:pt x="310515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538091" y="2934652"/>
              <a:ext cx="20461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weights/　实验一权重（复用）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38091" y="3220402"/>
              <a:ext cx="1805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real/camera.py　检测缝隙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8091" y="3506152"/>
              <a:ext cx="23429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task.json · camera.calibration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8472" y="3838099"/>
              <a:ext cx="15534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相机标定（homography）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96250" y="1809750"/>
              <a:ext cx="3562350" cy="2381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096250" y="1809750"/>
              <a:ext cx="35623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15706" y="20726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安思瀚</a:t>
              </a:r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　组员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18754" y="2423160"/>
              <a:ext cx="19231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真机线 · EP 执行与工具链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324850" y="2724150"/>
              <a:ext cx="3105150" cy="9525"/>
            </a:xfrm>
            <a:custGeom>
              <a:avLst/>
              <a:gdLst/>
              <a:ahLst/>
              <a:cxnLst/>
              <a:rect l="l" t="t" r="r" b="b"/>
              <a:pathLst>
                <a:path w="3105150" h="9525">
                  <a:moveTo>
                    <a:pt x="0" y="0"/>
                  </a:moveTo>
                  <a:lnTo>
                    <a:pt x="310515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19516" y="2934652"/>
              <a:ext cx="23500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real/ep_backend.py　六段 → 原语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19516" y="3220402"/>
              <a:ext cx="22854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real/calibrate.py　EP 位姿标定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19516" y="3506152"/>
              <a:ext cx="1791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config_real/　现场实测值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19897" y="383809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现场跑线与记录</a:t>
              </a:r>
            </a:p>
          </p:txBody>
        </p:sp>
      </p:grpSp>
      <p:grpSp>
        <p:nvGrpSpPr>
          <p:cNvPr id="41" name="configs"/>
          <p:cNvGrpSpPr/>
          <p:nvPr/>
        </p:nvGrpSpPr>
        <p:grpSpPr>
          <a:xfrm>
            <a:off x="533400" y="4419600"/>
            <a:ext cx="11125200" cy="1524000"/>
            <a:chOff x="533400" y="4419600"/>
            <a:chExt cx="11125200" cy="1524000"/>
          </a:xfrm>
        </p:grpSpPr>
        <p:sp>
          <p:nvSpPr>
            <p:cNvPr id="34" name="Rectangle 34"/>
            <p:cNvSpPr/>
            <p:nvPr/>
          </p:nvSpPr>
          <p:spPr>
            <a:xfrm>
              <a:off x="533400" y="4419600"/>
              <a:ext cx="1112520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0580" y="4619625"/>
              <a:ext cx="22344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同一份 schema，两套数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838200" y="493395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32485" y="519350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config/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470785" y="5193506"/>
              <a:ext cx="4187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仿真线：场景坐标　task.json · grid_cells.json · bins.json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2485" y="5574506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config_real/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70785" y="5574506"/>
              <a:ext cx="50893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真机线：现场实测值　前三份同名 + ep_waypoints.json（EP 执行侧参数）</a:t>
              </a:r>
            </a:p>
          </p:txBody>
        </p:sp>
      </p:grpSp>
      <p:grpSp>
        <p:nvGrpSpPr>
          <p:cNvPr id="44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295549"/>
              <a:ext cx="16062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config/ ⇄ config_real/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28575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已知边界与遗留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主动交代比被问出来好；每条边界都写清触发条件与后果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21" name="boundaries"/>
          <p:cNvGrpSpPr/>
          <p:nvPr/>
        </p:nvGrpSpPr>
        <p:grpSpPr>
          <a:xfrm>
            <a:off x="533400" y="1809750"/>
            <a:ext cx="11125200" cy="4038600"/>
            <a:chOff x="533400" y="1809750"/>
            <a:chExt cx="11125200" cy="4038600"/>
          </a:xfrm>
        </p:grpSpPr>
        <p:sp>
          <p:nvSpPr>
            <p:cNvPr id="6" name="Rectangle 6"/>
            <p:cNvSpPr/>
            <p:nvPr/>
          </p:nvSpPr>
          <p:spPr>
            <a:xfrm>
              <a:off x="533400" y="1809750"/>
              <a:ext cx="11125200" cy="952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8942" y="21021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9942" y="2102168"/>
              <a:ext cx="2901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真机只在同一次上电内有效</a:t>
              </a:r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　★待现场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37785" y="2050256"/>
              <a:ext cx="3240278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触发：换场地或重启（odom 原点跟着上电位姿走）</a:t>
              </a:r>
              <a:br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后果：底盘位姿全部作废，必须重标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942" y="31308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9942" y="3130868"/>
              <a:ext cx="3550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真机侧没有 ROS 2，因而没有 Launch 文件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37785" y="3078956"/>
              <a:ext cx="3140710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触发：EP 不提供 ROS 2 话题与服务</a:t>
              </a:r>
              <a:br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后果：真机线改单条命令入口，口径已与老师确认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3867150"/>
              <a:ext cx="11125200" cy="952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8942" y="41595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9942" y="4159568"/>
              <a:ext cx="3939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HELD / PLACED 由操作员回答物理事实</a:t>
              </a:r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　★待现场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37785" y="4107656"/>
              <a:ext cx="3745230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触发：EP 没有任何物块位姿感知</a:t>
              </a:r>
              <a:br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后果：正常一轮问 2 × 物体数 次，次数写进 real_run.json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8942" y="51882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9942" y="5188268"/>
              <a:ext cx="2901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真机实物最终选型仍有风险</a:t>
              </a:r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　★待现场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37785" y="5136356"/>
              <a:ext cx="3425190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触发：扁平的 mouse 要在 1～2 cm 高度处夹</a:t>
              </a:r>
              <a:br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后果：够不够得到没人验过，现场先试，够不到就垫高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762500" y="1809750"/>
              <a:ext cx="9525" cy="4038600"/>
            </a:xfrm>
            <a:custGeom>
              <a:avLst/>
              <a:gdLst/>
              <a:ahLst/>
              <a:cxnLst/>
              <a:rect l="l" t="t" r="r" b="b"/>
              <a:pathLst>
                <a:path w="9525" h="4038600">
                  <a:moveTo>
                    <a:pt x="0" y="0"/>
                  </a:moveTo>
                  <a:lnTo>
                    <a:pt x="0" y="403860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24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22" name="TextBox 22"/>
            <p:cNvSpPr txBox="1"/>
            <p:nvPr/>
          </p:nvSpPr>
          <p:spPr>
            <a:xfrm>
              <a:off x="528447" y="6295549"/>
              <a:ext cx="24967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real/标定说明.md · real/run_real.py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"/>
          <p:cNvGrpSpPr/>
          <p:nvPr/>
        </p:nvGrpSpPr>
        <p:grpSpPr>
          <a:xfrm>
            <a:off x="518160" y="628650"/>
            <a:ext cx="11140440" cy="828675"/>
            <a:chOff x="518160" y="628650"/>
            <a:chExt cx="11140440" cy="828675"/>
          </a:xfrm>
        </p:grpSpPr>
        <p:sp>
          <p:nvSpPr>
            <p:cNvPr id="2" name="TextBox 2"/>
            <p:cNvSpPr txBox="1"/>
            <p:nvPr/>
          </p:nvSpPr>
          <p:spPr>
            <a:xfrm>
              <a:off x="518160" y="628650"/>
              <a:ext cx="28575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结论与提交材料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5018" y="107918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一份核心、两个缝隙、两条线，证据在文件里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447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</p:grpSp>
      <p:grpSp>
        <p:nvGrpSpPr>
          <p:cNvPr id="8" name="conclusion"/>
          <p:cNvGrpSpPr/>
          <p:nvPr/>
        </p:nvGrpSpPr>
        <p:grpSpPr>
          <a:xfrm>
            <a:off x="533400" y="1809750"/>
            <a:ext cx="11125200" cy="1238250"/>
            <a:chOff x="533400" y="1809750"/>
            <a:chExt cx="11125200" cy="1238250"/>
          </a:xfrm>
        </p:grpSpPr>
        <p:sp>
          <p:nvSpPr>
            <p:cNvPr id="6" name="Rectangle 6"/>
            <p:cNvSpPr/>
            <p:nvPr/>
          </p:nvSpPr>
          <p:spPr>
            <a:xfrm>
              <a:off x="533400" y="1809750"/>
              <a:ext cx="11125200" cy="1238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9056" y="2186940"/>
              <a:ext cx="8154162" cy="7520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同一套 ROS-free 的任务控制核心，只换 scan() 与 pick_place() 两个缝隙，</a:t>
              </a:r>
              <a:br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就从 mechArm 仿真落到 RoboMaster EP 真机。</a:t>
              </a:r>
            </a:p>
          </p:txBody>
        </p:sp>
      </p:grpSp>
      <p:grpSp>
        <p:nvGrpSpPr>
          <p:cNvPr id="41" name="checklist"/>
          <p:cNvGrpSpPr/>
          <p:nvPr/>
        </p:nvGrpSpPr>
        <p:grpSpPr>
          <a:xfrm>
            <a:off x="533400" y="3276600"/>
            <a:ext cx="11125200" cy="2667000"/>
            <a:chOff x="533400" y="3276600"/>
            <a:chExt cx="11125200" cy="2667000"/>
          </a:xfrm>
        </p:grpSpPr>
        <p:sp>
          <p:nvSpPr>
            <p:cNvPr id="9" name="Rectangle 9"/>
            <p:cNvSpPr/>
            <p:nvPr/>
          </p:nvSpPr>
          <p:spPr>
            <a:xfrm>
              <a:off x="533400" y="3276600"/>
              <a:ext cx="11125200" cy="2667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18" y="3498532"/>
              <a:ext cx="206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任务书 §七 提交材料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38200" y="384810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9525">
              <a:solidFill>
                <a:srgbClr val="D5DDE7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64394" y="4102894"/>
              <a:ext cx="157163" cy="157163"/>
              <a:chOff x="864394" y="4102894"/>
              <a:chExt cx="157163" cy="15716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64394" y="410289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16781" y="416401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155192" y="4102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小组报告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864394" y="4464844"/>
              <a:ext cx="157163" cy="157163"/>
              <a:chOff x="864394" y="4464844"/>
              <a:chExt cx="157163" cy="15716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64394" y="446484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16781" y="452596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155192" y="44643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个人报告（三人各一份）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864394" y="4826794"/>
              <a:ext cx="157163" cy="157163"/>
              <a:chOff x="864394" y="4826794"/>
              <a:chExt cx="157163" cy="15716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64394" y="482679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16781" y="488791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155192" y="4826318"/>
              <a:ext cx="17129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状态机规格与 config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864394" y="5188744"/>
              <a:ext cx="157163" cy="157163"/>
              <a:chOff x="864394" y="5188744"/>
              <a:chExt cx="157163" cy="15716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64394" y="518874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16781" y="524986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155192" y="51882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模型与类别说明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6579394" y="4102894"/>
              <a:ext cx="157163" cy="157163"/>
              <a:chOff x="6579394" y="4102894"/>
              <a:chExt cx="157163" cy="15716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579394" y="410289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631781" y="416401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6870192" y="4102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依赖说明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6579394" y="4464844"/>
              <a:ext cx="157163" cy="157163"/>
              <a:chOff x="6579394" y="4464844"/>
              <a:chExt cx="157163" cy="15716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579394" y="446484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631781" y="452596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870192" y="44643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演示视频（本次只播视频）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6579394" y="4826794"/>
              <a:ext cx="157163" cy="157163"/>
              <a:chOff x="6579394" y="4826794"/>
              <a:chExt cx="157163" cy="15716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579394" y="482679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631781" y="4887913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7463">
                <a:solidFill>
                  <a:schemeClr val="accent3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870192" y="48263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实验结果记录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485" y="5631656"/>
              <a:ext cx="5198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每页左下角的标签，就是该页对应的代码位置 —— 全篇 18 页都可回溯到文件。</a:t>
              </a:r>
            </a:p>
          </p:txBody>
        </p:sp>
      </p:grpSp>
      <p:grpSp>
        <p:nvGrpSpPr>
          <p:cNvPr id="44" name="page-footer"/>
          <p:cNvGrpSpPr/>
          <p:nvPr/>
        </p:nvGrpSpPr>
        <p:grpSpPr>
          <a:xfrm>
            <a:off x="528447" y="6295549"/>
            <a:ext cx="11135106" cy="190690"/>
            <a:chOff x="528447" y="629554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295549"/>
              <a:ext cx="20730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exp3/README.md · 提交材料清单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2955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实验3_答辩PPT">
  <a:themeElements>
    <a:clrScheme name="实验3_答辩PPT">
      <a:dk1>
        <a:srgbClr val="1C2536"/>
      </a:dk1>
      <a:lt1>
        <a:srgbClr val="FFFFFF"/>
      </a:lt1>
      <a:dk2>
        <a:srgbClr val="1F497D"/>
      </a:dk2>
      <a:lt2>
        <a:srgbClr val="F2F5F9"/>
      </a:lt2>
      <a:accent1>
        <a:srgbClr val="17427A"/>
      </a:accent1>
      <a:accent2>
        <a:srgbClr val="C2410C"/>
      </a:accent2>
      <a:accent3>
        <a:srgbClr val="0F766E"/>
      </a:accent3>
      <a:accent4>
        <a:srgbClr val="17427A"/>
      </a:accent4>
      <a:accent5>
        <a:srgbClr val="5A6675"/>
      </a:accent5>
      <a:accent6>
        <a:srgbClr val="B9CDE8"/>
      </a:accent6>
      <a:hlink>
        <a:srgbClr val="C2410C"/>
      </a:hlink>
      <a:folHlink>
        <a:srgbClr val="0F766E"/>
      </a:folHlink>
    </a:clrScheme>
    <a:fontScheme name="实验3_答辩P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实验3_答辩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实验3_答辩PPT">
  <a:themeElements>
    <a:clrScheme name="实验3_答辩PPT">
      <a:dk1>
        <a:srgbClr val="1C2536"/>
      </a:dk1>
      <a:lt1>
        <a:srgbClr val="FFFFFF"/>
      </a:lt1>
      <a:dk2>
        <a:srgbClr val="1F497D"/>
      </a:dk2>
      <a:lt2>
        <a:srgbClr val="F2F5F9"/>
      </a:lt2>
      <a:accent1>
        <a:srgbClr val="17427A"/>
      </a:accent1>
      <a:accent2>
        <a:srgbClr val="C2410C"/>
      </a:accent2>
      <a:accent3>
        <a:srgbClr val="0F766E"/>
      </a:accent3>
      <a:accent4>
        <a:srgbClr val="17427A"/>
      </a:accent4>
      <a:accent5>
        <a:srgbClr val="5A6675"/>
      </a:accent5>
      <a:accent6>
        <a:srgbClr val="B9CDE8"/>
      </a:accent6>
      <a:hlink>
        <a:srgbClr val="C2410C"/>
      </a:hlink>
      <a:folHlink>
        <a:srgbClr val="0F766E"/>
      </a:folHlink>
    </a:clrScheme>
    <a:fontScheme name="实验3_答辩P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实验3_答辩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2026-09-24T04:15:19Z</dcterms:created>
  <dcterms:modified xsi:type="dcterms:W3CDTF">2026-09-24T04:15:19Z</dcterms:modified>
  <cp:category/>
  <cp:contentStatus/>
</cp:coreProperties>
</file>